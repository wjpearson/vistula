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y="5143500" cx="9144000"/>
  <p:notesSz cx="6858000" cy="9144000"/>
  <p:embeddedFontLst>
    <p:embeddedFont>
      <p:font typeface="Raleway"/>
      <p:regular r:id="rId72"/>
      <p:bold r:id="rId73"/>
      <p:italic r:id="rId74"/>
      <p:boldItalic r:id="rId75"/>
    </p:embeddedFont>
    <p:embeddedFont>
      <p:font typeface="Roboto Mono Medium"/>
      <p:regular r:id="rId76"/>
      <p:bold r:id="rId77"/>
      <p:italic r:id="rId78"/>
      <p:boldItalic r:id="rId79"/>
    </p:embeddedFont>
    <p:embeddedFont>
      <p:font typeface="Roboto Mono SemiBold"/>
      <p:regular r:id="rId80"/>
      <p:bold r:id="rId81"/>
      <p:italic r:id="rId82"/>
      <p:boldItalic r:id="rId83"/>
    </p:embeddedFont>
    <p:embeddedFont>
      <p:font typeface="Montserrat"/>
      <p:regular r:id="rId84"/>
      <p:bold r:id="rId85"/>
      <p:italic r:id="rId86"/>
      <p:boldItalic r:id="rId87"/>
    </p:embeddedFont>
    <p:embeddedFont>
      <p:font typeface="Lato"/>
      <p:regular r:id="rId88"/>
      <p:bold r:id="rId89"/>
      <p:italic r:id="rId90"/>
      <p:boldItalic r:id="rId91"/>
    </p:embeddedFont>
    <p:embeddedFont>
      <p:font typeface="Montserrat Medium"/>
      <p:regular r:id="rId92"/>
      <p:bold r:id="rId93"/>
      <p:italic r:id="rId94"/>
      <p:boldItalic r:id="rId95"/>
    </p:embeddedFont>
    <p:embeddedFont>
      <p:font typeface="Caveat Medium"/>
      <p:regular r:id="rId96"/>
      <p:bold r:id="rId97"/>
    </p:embeddedFont>
    <p:embeddedFont>
      <p:font typeface="Roboto Mono"/>
      <p:regular r:id="rId98"/>
      <p:bold r:id="rId99"/>
      <p:italic r:id="rId100"/>
      <p:boldItalic r:id="rId10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DB266F-04EB-4D0B-89A0-1A328DB709BE}">
  <a:tblStyle styleId="{AFDB266F-04EB-4D0B-89A0-1A328DB709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1" Type="http://schemas.openxmlformats.org/officeDocument/2006/relationships/font" Target="fonts/RobotoMono-boldItalic.fntdata"/><Relationship Id="rId100" Type="http://schemas.openxmlformats.org/officeDocument/2006/relationships/font" Target="fonts/RobotoMono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MontserratMedium-boldItalic.fntdata"/><Relationship Id="rId94" Type="http://schemas.openxmlformats.org/officeDocument/2006/relationships/font" Target="fonts/MontserratMedium-italic.fntdata"/><Relationship Id="rId97" Type="http://schemas.openxmlformats.org/officeDocument/2006/relationships/font" Target="fonts/CaveatMedium-bold.fntdata"/><Relationship Id="rId96" Type="http://schemas.openxmlformats.org/officeDocument/2006/relationships/font" Target="fonts/CaveatMedium-regular.fntdata"/><Relationship Id="rId11" Type="http://schemas.openxmlformats.org/officeDocument/2006/relationships/slide" Target="slides/slide5.xml"/><Relationship Id="rId99" Type="http://schemas.openxmlformats.org/officeDocument/2006/relationships/font" Target="fonts/RobotoMono-bold.fntdata"/><Relationship Id="rId10" Type="http://schemas.openxmlformats.org/officeDocument/2006/relationships/slide" Target="slides/slide4.xml"/><Relationship Id="rId98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Lato-boldItalic.fntdata"/><Relationship Id="rId90" Type="http://schemas.openxmlformats.org/officeDocument/2006/relationships/font" Target="fonts/Lato-italic.fntdata"/><Relationship Id="rId93" Type="http://schemas.openxmlformats.org/officeDocument/2006/relationships/font" Target="fonts/MontserratMedium-bold.fntdata"/><Relationship Id="rId92" Type="http://schemas.openxmlformats.org/officeDocument/2006/relationships/font" Target="fonts/MontserratMedium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font" Target="fonts/Montserrat-regular.fntdata"/><Relationship Id="rId83" Type="http://schemas.openxmlformats.org/officeDocument/2006/relationships/font" Target="fonts/RobotoMonoSemiBold-boldItalic.fntdata"/><Relationship Id="rId86" Type="http://schemas.openxmlformats.org/officeDocument/2006/relationships/font" Target="fonts/Montserrat-italic.fntdata"/><Relationship Id="rId85" Type="http://schemas.openxmlformats.org/officeDocument/2006/relationships/font" Target="fonts/Montserrat-bold.fntdata"/><Relationship Id="rId88" Type="http://schemas.openxmlformats.org/officeDocument/2006/relationships/font" Target="fonts/Lato-regular.fntdata"/><Relationship Id="rId87" Type="http://schemas.openxmlformats.org/officeDocument/2006/relationships/font" Target="fonts/Montserrat-boldItalic.fntdata"/><Relationship Id="rId89" Type="http://schemas.openxmlformats.org/officeDocument/2006/relationships/font" Target="fonts/Lato-bold.fntdata"/><Relationship Id="rId80" Type="http://schemas.openxmlformats.org/officeDocument/2006/relationships/font" Target="fonts/RobotoMonoSemiBold-regular.fntdata"/><Relationship Id="rId82" Type="http://schemas.openxmlformats.org/officeDocument/2006/relationships/font" Target="fonts/RobotoMonoSemiBold-italic.fntdata"/><Relationship Id="rId81" Type="http://schemas.openxmlformats.org/officeDocument/2006/relationships/font" Target="fonts/RobotoMono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aleway-bold.fntdata"/><Relationship Id="rId72" Type="http://schemas.openxmlformats.org/officeDocument/2006/relationships/font" Target="fonts/Raleway-regular.fntdata"/><Relationship Id="rId75" Type="http://schemas.openxmlformats.org/officeDocument/2006/relationships/font" Target="fonts/Raleway-boldItalic.fntdata"/><Relationship Id="rId74" Type="http://schemas.openxmlformats.org/officeDocument/2006/relationships/font" Target="fonts/Raleway-italic.fntdata"/><Relationship Id="rId77" Type="http://schemas.openxmlformats.org/officeDocument/2006/relationships/font" Target="fonts/RobotoMonoMedium-bold.fntdata"/><Relationship Id="rId76" Type="http://schemas.openxmlformats.org/officeDocument/2006/relationships/font" Target="fonts/RobotoMonoMedium-regular.fntdata"/><Relationship Id="rId79" Type="http://schemas.openxmlformats.org/officeDocument/2006/relationships/font" Target="fonts/RobotoMonoMedium-boldItalic.fntdata"/><Relationship Id="rId78" Type="http://schemas.openxmlformats.org/officeDocument/2006/relationships/font" Target="fonts/RobotoMonoMedium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aee6a232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aee6a232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8b3bd25e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8b3bd25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bb373fd7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bb373fd7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97205158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97205158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a1e48385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ba1e4838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ba1e4838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ba1e4838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bb373fd73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bb373fd73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ba1e48385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ba1e48385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ba1e48385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ba1e48385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ba1e48385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ba1e48385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a1e48385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a1e48385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b373fd7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b373fd7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bb373fd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bb373fd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ba1e48385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ba1e48385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bb373fd73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bb373fd73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ba1e48385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ba1e48385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bb373fd73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bb373fd73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ba1e48385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ba1e48385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bb373fd7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bb373fd7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bb373fd73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bb373fd73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bb373fd7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bb373fd7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bb373fd73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bb373fd73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bb373fd7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bb373fd7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ba1e48385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ba1e48385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bb373fd7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bb373fd7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bb373fd73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bb373fd73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bb373fd73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bb373fd73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bb373fd73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bb373fd73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bb373fd7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bb373fd7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bb373fd73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bb373fd73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bb373fd73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fbb373fd73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bb373fd73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fbb373fd73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bb373fd73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fbb373fd73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bb373fd73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fbb373fd73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c8b3bd25e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c8b3bd25e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c97205158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c97205158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fbb373fd73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fbb373fd73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You did four experiments and got four datasets, but the journal in which you want to publish raised publishing fees again and you don’t have space for a plot. You can fit only a small table with some statistical descriptors. Which ones would you choose to illustrate how the outcomes of your experiments differ from one another?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fbb373fd73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fbb373fd73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You did four experiments and got four datasets, but the journal in which you want to publish raised publishing fees again and you don’t have space for a plot. You can fit only a small table with some statistical descriptors. Which ones would you choose to illustrate how the outcomes of your experiments differ from one another?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fbb373fd73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fbb373fd73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fbb373fd73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fbb373fd73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fbb373fd7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fbb373fd7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bb373fd73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fbb373fd73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fbb373fd73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fbb373fd73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 can think of ML as of something that works with matrices, but we can also think about it as about something that works with multidimensional geometry, or a landscape. 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fbb373fd7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fbb373fd7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 can think of ML as of something that works with matrices, but we can also think about it as about something that works with multidimensional geometry, or a landscape. 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fbb373fd73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fbb373fd73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 can think of ML as of something that works with matrices, but we can also think about it as about something that works with multidimensional geometry, or a landscape. 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fbb373fd73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fbb373fd73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fbb373fd73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fbb373fd73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fbb373fd73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fbb373fd73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c97205158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c97205158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c97205158d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c97205158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c97205158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c97205158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c97205158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c97205158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c97205158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c97205158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97205158d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c97205158d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c97205158d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c97205158d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c97205158d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c97205158d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c97205158d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c97205158d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c97205158d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c97205158d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c97205158d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c97205158d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c97205158d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c97205158d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c97205158d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c97205158d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97205158d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c97205158d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c97205158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c97205158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c97205158d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c97205158d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fbb373fd73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fbb373fd73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text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/>
          <p:nvPr/>
        </p:nvSpPr>
        <p:spPr>
          <a:xfrm>
            <a:off x="195625" y="234075"/>
            <a:ext cx="87588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" name="Google Shape;13;p4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4" name="Google Shape;14;p4"/>
          <p:cNvSpPr txBox="1"/>
          <p:nvPr/>
        </p:nvSpPr>
        <p:spPr>
          <a:xfrm>
            <a:off x="621450" y="4816450"/>
            <a:ext cx="790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" name="Google Shape;15;p4"/>
          <p:cNvCxnSpPr/>
          <p:nvPr/>
        </p:nvCxnSpPr>
        <p:spPr>
          <a:xfrm flipH="1" rot="10800000">
            <a:off x="189600" y="617467"/>
            <a:ext cx="8764800" cy="12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4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900">
                <a:solidFill>
                  <a:srgbClr val="D9D9D9"/>
                </a:solidFill>
              </a:defRPr>
            </a:lvl1pPr>
            <a:lvl2pPr lvl="1" rtl="0">
              <a:buNone/>
              <a:defRPr sz="900">
                <a:solidFill>
                  <a:srgbClr val="D9D9D9"/>
                </a:solidFill>
              </a:defRPr>
            </a:lvl2pPr>
            <a:lvl3pPr lvl="2" rtl="0">
              <a:buNone/>
              <a:defRPr sz="900">
                <a:solidFill>
                  <a:srgbClr val="D9D9D9"/>
                </a:solidFill>
              </a:defRPr>
            </a:lvl3pPr>
            <a:lvl4pPr lvl="3" rtl="0">
              <a:buNone/>
              <a:defRPr sz="900">
                <a:solidFill>
                  <a:srgbClr val="D9D9D9"/>
                </a:solidFill>
              </a:defRPr>
            </a:lvl4pPr>
            <a:lvl5pPr lvl="4" rtl="0">
              <a:buNone/>
              <a:defRPr sz="900">
                <a:solidFill>
                  <a:srgbClr val="D9D9D9"/>
                </a:solidFill>
              </a:defRPr>
            </a:lvl5pPr>
            <a:lvl6pPr lvl="5" rtl="0">
              <a:buNone/>
              <a:defRPr sz="900">
                <a:solidFill>
                  <a:srgbClr val="D9D9D9"/>
                </a:solidFill>
              </a:defRPr>
            </a:lvl6pPr>
            <a:lvl7pPr lvl="6" rtl="0">
              <a:buNone/>
              <a:defRPr sz="900">
                <a:solidFill>
                  <a:srgbClr val="D9D9D9"/>
                </a:solidFill>
              </a:defRPr>
            </a:lvl7pPr>
            <a:lvl8pPr lvl="7" rtl="0">
              <a:buNone/>
              <a:defRPr sz="900">
                <a:solidFill>
                  <a:srgbClr val="D9D9D9"/>
                </a:solidFill>
              </a:defRPr>
            </a:lvl8pPr>
            <a:lvl9pPr lvl="8" rtl="0">
              <a:buNone/>
              <a:defRPr sz="900">
                <a:solidFill>
                  <a:srgbClr val="D9D9D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text cols">
  <p:cSld name="BLANK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195625" y="234075"/>
            <a:ext cx="87588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2" name="Google Shape;22;p5"/>
          <p:cNvSpPr txBox="1"/>
          <p:nvPr/>
        </p:nvSpPr>
        <p:spPr>
          <a:xfrm>
            <a:off x="621450" y="4816450"/>
            <a:ext cx="790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" name="Google Shape;23;p5"/>
          <p:cNvCxnSpPr/>
          <p:nvPr/>
        </p:nvCxnSpPr>
        <p:spPr>
          <a:xfrm flipH="1" rot="10800000">
            <a:off x="189600" y="617467"/>
            <a:ext cx="8764800" cy="12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900">
                <a:solidFill>
                  <a:srgbClr val="D9D9D9"/>
                </a:solidFill>
              </a:defRPr>
            </a:lvl1pPr>
            <a:lvl2pPr lvl="1" rtl="0">
              <a:buNone/>
              <a:defRPr sz="900">
                <a:solidFill>
                  <a:srgbClr val="D9D9D9"/>
                </a:solidFill>
              </a:defRPr>
            </a:lvl2pPr>
            <a:lvl3pPr lvl="2" rtl="0">
              <a:buNone/>
              <a:defRPr sz="900">
                <a:solidFill>
                  <a:srgbClr val="D9D9D9"/>
                </a:solidFill>
              </a:defRPr>
            </a:lvl3pPr>
            <a:lvl4pPr lvl="3" rtl="0">
              <a:buNone/>
              <a:defRPr sz="900">
                <a:solidFill>
                  <a:srgbClr val="D9D9D9"/>
                </a:solidFill>
              </a:defRPr>
            </a:lvl4pPr>
            <a:lvl5pPr lvl="4" rtl="0">
              <a:buNone/>
              <a:defRPr sz="900">
                <a:solidFill>
                  <a:srgbClr val="D9D9D9"/>
                </a:solidFill>
              </a:defRPr>
            </a:lvl5pPr>
            <a:lvl6pPr lvl="5" rtl="0">
              <a:buNone/>
              <a:defRPr sz="900">
                <a:solidFill>
                  <a:srgbClr val="D9D9D9"/>
                </a:solidFill>
              </a:defRPr>
            </a:lvl6pPr>
            <a:lvl7pPr lvl="6" rtl="0">
              <a:buNone/>
              <a:defRPr sz="900">
                <a:solidFill>
                  <a:srgbClr val="D9D9D9"/>
                </a:solidFill>
              </a:defRPr>
            </a:lvl7pPr>
            <a:lvl8pPr lvl="7" rtl="0">
              <a:buNone/>
              <a:defRPr sz="900">
                <a:solidFill>
                  <a:srgbClr val="D9D9D9"/>
                </a:solidFill>
              </a:defRPr>
            </a:lvl8pPr>
            <a:lvl9pPr lvl="8" rtl="0">
              <a:buNone/>
              <a:defRPr sz="900">
                <a:solidFill>
                  <a:srgbClr val="D9D9D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504000" y="918000"/>
            <a:ext cx="4017600" cy="35655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4622400" y="918000"/>
            <a:ext cx="4017600" cy="35655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xt fields">
  <p:cSld name="BLANK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195625" y="234075"/>
            <a:ext cx="87588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31" name="Google Shape;31;p6"/>
          <p:cNvSpPr txBox="1"/>
          <p:nvPr/>
        </p:nvSpPr>
        <p:spPr>
          <a:xfrm>
            <a:off x="621450" y="4816450"/>
            <a:ext cx="790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Machine Learning course. Dealing with the Data.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" name="Google Shape;32;p6"/>
          <p:cNvCxnSpPr/>
          <p:nvPr/>
        </p:nvCxnSpPr>
        <p:spPr>
          <a:xfrm flipH="1" rot="10800000">
            <a:off x="189600" y="617467"/>
            <a:ext cx="8764800" cy="12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900">
                <a:solidFill>
                  <a:srgbClr val="D9D9D9"/>
                </a:solidFill>
              </a:defRPr>
            </a:lvl1pPr>
            <a:lvl2pPr lvl="1" rtl="0">
              <a:buNone/>
              <a:defRPr sz="900">
                <a:solidFill>
                  <a:srgbClr val="D9D9D9"/>
                </a:solidFill>
              </a:defRPr>
            </a:lvl2pPr>
            <a:lvl3pPr lvl="2" rtl="0">
              <a:buNone/>
              <a:defRPr sz="900">
                <a:solidFill>
                  <a:srgbClr val="D9D9D9"/>
                </a:solidFill>
              </a:defRPr>
            </a:lvl3pPr>
            <a:lvl4pPr lvl="3" rtl="0">
              <a:buNone/>
              <a:defRPr sz="900">
                <a:solidFill>
                  <a:srgbClr val="D9D9D9"/>
                </a:solidFill>
              </a:defRPr>
            </a:lvl4pPr>
            <a:lvl5pPr lvl="4" rtl="0">
              <a:buNone/>
              <a:defRPr sz="900">
                <a:solidFill>
                  <a:srgbClr val="D9D9D9"/>
                </a:solidFill>
              </a:defRPr>
            </a:lvl5pPr>
            <a:lvl6pPr lvl="5" rtl="0">
              <a:buNone/>
              <a:defRPr sz="900">
                <a:solidFill>
                  <a:srgbClr val="D9D9D9"/>
                </a:solidFill>
              </a:defRPr>
            </a:lvl6pPr>
            <a:lvl7pPr lvl="6" rtl="0">
              <a:buNone/>
              <a:defRPr sz="900">
                <a:solidFill>
                  <a:srgbClr val="D9D9D9"/>
                </a:solidFill>
              </a:defRPr>
            </a:lvl7pPr>
            <a:lvl8pPr lvl="7" rtl="0">
              <a:buNone/>
              <a:defRPr sz="900">
                <a:solidFill>
                  <a:srgbClr val="D9D9D9"/>
                </a:solidFill>
              </a:defRPr>
            </a:lvl8pPr>
            <a:lvl9pPr lvl="8" rtl="0">
              <a:buNone/>
              <a:defRPr sz="900">
                <a:solidFill>
                  <a:srgbClr val="D9D9D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503951" y="916405"/>
            <a:ext cx="4016100" cy="17394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4623549" y="916405"/>
            <a:ext cx="4016100" cy="17388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507174" y="2748119"/>
            <a:ext cx="4016100" cy="17394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4626776" y="2746800"/>
            <a:ext cx="4016100" cy="17394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text field">
  <p:cSld name="BLANK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41" name="Google Shape;41;p7"/>
          <p:cNvSpPr txBox="1"/>
          <p:nvPr/>
        </p:nvSpPr>
        <p:spPr>
          <a:xfrm>
            <a:off x="621450" y="4816450"/>
            <a:ext cx="790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" name="Google Shape;42;p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900">
                <a:solidFill>
                  <a:schemeClr val="lt1"/>
                </a:solidFill>
              </a:defRPr>
            </a:lvl1pPr>
            <a:lvl2pPr lvl="1" rtl="0">
              <a:buNone/>
              <a:defRPr sz="900">
                <a:solidFill>
                  <a:schemeClr val="lt1"/>
                </a:solidFill>
              </a:defRPr>
            </a:lvl2pPr>
            <a:lvl3pPr lvl="2" rtl="0">
              <a:buNone/>
              <a:defRPr sz="900">
                <a:solidFill>
                  <a:schemeClr val="lt1"/>
                </a:solidFill>
              </a:defRPr>
            </a:lvl3pPr>
            <a:lvl4pPr lvl="3" rtl="0">
              <a:buNone/>
              <a:defRPr sz="900">
                <a:solidFill>
                  <a:schemeClr val="lt1"/>
                </a:solidFill>
              </a:defRPr>
            </a:lvl4pPr>
            <a:lvl5pPr lvl="4" rtl="0">
              <a:buNone/>
              <a:defRPr sz="900">
                <a:solidFill>
                  <a:schemeClr val="lt1"/>
                </a:solidFill>
              </a:defRPr>
            </a:lvl5pPr>
            <a:lvl6pPr lvl="5" rtl="0">
              <a:buNone/>
              <a:defRPr sz="900">
                <a:solidFill>
                  <a:schemeClr val="lt1"/>
                </a:solidFill>
              </a:defRPr>
            </a:lvl6pPr>
            <a:lvl7pPr lvl="6" rtl="0">
              <a:buNone/>
              <a:defRPr sz="900">
                <a:solidFill>
                  <a:schemeClr val="lt1"/>
                </a:solidFill>
              </a:defRPr>
            </a:lvl7pPr>
            <a:lvl8pPr lvl="7" rtl="0">
              <a:buNone/>
              <a:defRPr sz="900">
                <a:solidFill>
                  <a:schemeClr val="lt1"/>
                </a:solidFill>
              </a:defRPr>
            </a:lvl8pPr>
            <a:lvl9pPr lvl="8" rtl="0">
              <a:buNone/>
              <a:defRPr sz="9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>
            <a:off x="195625" y="234075"/>
            <a:ext cx="42759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 txBox="1"/>
          <p:nvPr/>
        </p:nvSpPr>
        <p:spPr>
          <a:xfrm>
            <a:off x="195750" y="4816450"/>
            <a:ext cx="87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" name="Google Shape;46;p8"/>
          <p:cNvCxnSpPr/>
          <p:nvPr/>
        </p:nvCxnSpPr>
        <p:spPr>
          <a:xfrm>
            <a:off x="189600" y="618667"/>
            <a:ext cx="4413000" cy="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900">
                <a:solidFill>
                  <a:schemeClr val="lt1"/>
                </a:solidFill>
              </a:defRPr>
            </a:lvl1pPr>
            <a:lvl2pPr lvl="1" rtl="0">
              <a:buNone/>
              <a:defRPr sz="900">
                <a:solidFill>
                  <a:schemeClr val="lt1"/>
                </a:solidFill>
              </a:defRPr>
            </a:lvl2pPr>
            <a:lvl3pPr lvl="2" rtl="0">
              <a:buNone/>
              <a:defRPr sz="900">
                <a:solidFill>
                  <a:schemeClr val="lt1"/>
                </a:solidFill>
              </a:defRPr>
            </a:lvl3pPr>
            <a:lvl4pPr lvl="3" rtl="0">
              <a:buNone/>
              <a:defRPr sz="900">
                <a:solidFill>
                  <a:schemeClr val="lt1"/>
                </a:solidFill>
              </a:defRPr>
            </a:lvl4pPr>
            <a:lvl5pPr lvl="4" rtl="0">
              <a:buNone/>
              <a:defRPr sz="900">
                <a:solidFill>
                  <a:schemeClr val="lt1"/>
                </a:solidFill>
              </a:defRPr>
            </a:lvl5pPr>
            <a:lvl6pPr lvl="5" rtl="0">
              <a:buNone/>
              <a:defRPr sz="900">
                <a:solidFill>
                  <a:schemeClr val="lt1"/>
                </a:solidFill>
              </a:defRPr>
            </a:lvl6pPr>
            <a:lvl7pPr lvl="6" rtl="0">
              <a:buNone/>
              <a:defRPr sz="900">
                <a:solidFill>
                  <a:schemeClr val="lt1"/>
                </a:solidFill>
              </a:defRPr>
            </a:lvl7pPr>
            <a:lvl8pPr lvl="7" rtl="0">
              <a:buNone/>
              <a:defRPr sz="900">
                <a:solidFill>
                  <a:schemeClr val="lt1"/>
                </a:solidFill>
              </a:defRPr>
            </a:lvl8pPr>
            <a:lvl9pPr lvl="8" rtl="0">
              <a:buNone/>
              <a:defRPr sz="9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199975" y="239975"/>
            <a:ext cx="4275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/>
          <p:nvPr>
            <p:ph idx="2" type="pic"/>
          </p:nvPr>
        </p:nvSpPr>
        <p:spPr>
          <a:xfrm>
            <a:off x="4683150" y="234075"/>
            <a:ext cx="4275900" cy="4562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1">
  <p:cSld name="BLANK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195625" y="234075"/>
            <a:ext cx="43992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53" name="Google Shape;53;p9"/>
          <p:cNvSpPr txBox="1"/>
          <p:nvPr/>
        </p:nvSpPr>
        <p:spPr>
          <a:xfrm>
            <a:off x="98475" y="4816450"/>
            <a:ext cx="463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" name="Google Shape;54;p9"/>
          <p:cNvCxnSpPr/>
          <p:nvPr/>
        </p:nvCxnSpPr>
        <p:spPr>
          <a:xfrm>
            <a:off x="189600" y="618667"/>
            <a:ext cx="4413000" cy="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4">
  <p:cSld name="BLANK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>
            <a:off x="195625" y="234075"/>
            <a:ext cx="87588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621450" y="4816450"/>
            <a:ext cx="790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" name="Google Shape;59;p10"/>
          <p:cNvCxnSpPr/>
          <p:nvPr/>
        </p:nvCxnSpPr>
        <p:spPr>
          <a:xfrm flipH="1" rot="10800000">
            <a:off x="189600" y="617467"/>
            <a:ext cx="8764800" cy="12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900">
                <a:solidFill>
                  <a:srgbClr val="D9D9D9"/>
                </a:solidFill>
              </a:defRPr>
            </a:lvl1pPr>
            <a:lvl2pPr lvl="1">
              <a:buNone/>
              <a:defRPr sz="900">
                <a:solidFill>
                  <a:srgbClr val="D9D9D9"/>
                </a:solidFill>
              </a:defRPr>
            </a:lvl2pPr>
            <a:lvl3pPr lvl="2">
              <a:buNone/>
              <a:defRPr sz="900">
                <a:solidFill>
                  <a:srgbClr val="D9D9D9"/>
                </a:solidFill>
              </a:defRPr>
            </a:lvl3pPr>
            <a:lvl4pPr lvl="3">
              <a:buNone/>
              <a:defRPr sz="900">
                <a:solidFill>
                  <a:srgbClr val="D9D9D9"/>
                </a:solidFill>
              </a:defRPr>
            </a:lvl4pPr>
            <a:lvl5pPr lvl="4">
              <a:buNone/>
              <a:defRPr sz="900">
                <a:solidFill>
                  <a:srgbClr val="D9D9D9"/>
                </a:solidFill>
              </a:defRPr>
            </a:lvl5pPr>
            <a:lvl6pPr lvl="5">
              <a:buNone/>
              <a:defRPr sz="900">
                <a:solidFill>
                  <a:srgbClr val="D9D9D9"/>
                </a:solidFill>
              </a:defRPr>
            </a:lvl6pPr>
            <a:lvl7pPr lvl="6">
              <a:buNone/>
              <a:defRPr sz="900">
                <a:solidFill>
                  <a:srgbClr val="D9D9D9"/>
                </a:solidFill>
              </a:defRPr>
            </a:lvl7pPr>
            <a:lvl8pPr lvl="7">
              <a:buNone/>
              <a:defRPr sz="900">
                <a:solidFill>
                  <a:srgbClr val="D9D9D9"/>
                </a:solidFill>
              </a:defRPr>
            </a:lvl8pPr>
            <a:lvl9pPr lvl="8">
              <a:buNone/>
              <a:defRPr sz="900">
                <a:solidFill>
                  <a:srgbClr val="D9D9D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9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None/>
              <a:defRPr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playground.tensorflow.org/" TargetMode="External"/><Relationship Id="rId4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4.png"/><Relationship Id="rId4" Type="http://schemas.openxmlformats.org/officeDocument/2006/relationships/image" Target="../media/image2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/>
          <p:nvPr/>
        </p:nvSpPr>
        <p:spPr>
          <a:xfrm>
            <a:off x="2088800" y="3012875"/>
            <a:ext cx="4978500" cy="543300"/>
          </a:xfrm>
          <a:prstGeom prst="rect">
            <a:avLst/>
          </a:prstGeom>
          <a:solidFill>
            <a:srgbClr val="FFFFFF">
              <a:alpha val="9036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3000" y="151925"/>
            <a:ext cx="9144000" cy="653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1"/>
          <p:cNvSpPr/>
          <p:nvPr/>
        </p:nvSpPr>
        <p:spPr>
          <a:xfrm>
            <a:off x="2088800" y="1560350"/>
            <a:ext cx="4978500" cy="1327200"/>
          </a:xfrm>
          <a:prstGeom prst="rect">
            <a:avLst/>
          </a:prstGeom>
          <a:solidFill>
            <a:srgbClr val="FFFFFF">
              <a:alpha val="9036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1"/>
          <p:cNvSpPr txBox="1"/>
          <p:nvPr/>
        </p:nvSpPr>
        <p:spPr>
          <a:xfrm>
            <a:off x="2334750" y="1635325"/>
            <a:ext cx="44745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Lato"/>
                <a:ea typeface="Lato"/>
                <a:cs typeface="Lato"/>
                <a:sym typeface="Lato"/>
              </a:rPr>
              <a:t>Data Analysis </a:t>
            </a:r>
            <a:br>
              <a:rPr lang="ru" sz="1900">
                <a:latin typeface="Lato"/>
                <a:ea typeface="Lato"/>
                <a:cs typeface="Lato"/>
                <a:sym typeface="Lato"/>
              </a:rPr>
            </a:br>
            <a:r>
              <a:rPr lang="ru" sz="1900">
                <a:latin typeface="Lato"/>
                <a:ea typeface="Lato"/>
                <a:cs typeface="Lato"/>
                <a:sym typeface="Lato"/>
              </a:rPr>
              <a:t>and</a:t>
            </a:r>
            <a:br>
              <a:rPr lang="ru" sz="1900">
                <a:latin typeface="Lato"/>
                <a:ea typeface="Lato"/>
                <a:cs typeface="Lato"/>
                <a:sym typeface="Lato"/>
              </a:rPr>
            </a:br>
            <a:r>
              <a:rPr lang="ru" sz="1900">
                <a:latin typeface="Lato"/>
                <a:ea typeface="Lato"/>
                <a:cs typeface="Lato"/>
                <a:sym typeface="Lato"/>
              </a:rPr>
              <a:t>Machine Learning Basics</a:t>
            </a:r>
            <a:endParaRPr sz="1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2082750" y="3107525"/>
            <a:ext cx="4978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Alex Razim, University of Nova Gorica, Slovenia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" name="Google Shape;70;p11"/>
          <p:cNvSpPr/>
          <p:nvPr/>
        </p:nvSpPr>
        <p:spPr>
          <a:xfrm>
            <a:off x="-8175" y="4337700"/>
            <a:ext cx="9158100" cy="653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 txBox="1"/>
          <p:nvPr/>
        </p:nvSpPr>
        <p:spPr>
          <a:xfrm>
            <a:off x="2074563" y="4337708"/>
            <a:ext cx="49785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VISTULA workshop</a:t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Warsaw, Sep 22, 2026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2" name="Google Shape;7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8175" y="233356"/>
            <a:ext cx="467650" cy="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8937" y="272861"/>
            <a:ext cx="1541675" cy="41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0251" y="267804"/>
            <a:ext cx="1844603" cy="41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0" name="Google Shape;80;p12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1" name="Google Shape;81;p12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Lecture outline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2"/>
          <p:cNvSpPr txBox="1"/>
          <p:nvPr>
            <p:ph idx="3" type="body"/>
          </p:nvPr>
        </p:nvSpPr>
        <p:spPr>
          <a:xfrm>
            <a:off x="195625" y="701575"/>
            <a:ext cx="8758800" cy="40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Part 0: Why are you here?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Part I: What is Machine Learning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68275" lvl="0" marL="899999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‘Behaviour from the data’ principle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68275" lvl="0" marL="89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Optimization problem. Loss and cost functions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Gradient descent and backpropagation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SLP and MLP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Shallow and deep NNs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ML interpretability problem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ML types: supervised/un-/semi-/self-supervised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Classification, regression, clusterization, prediction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Part III: Interrogating the black box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Train/validation/test sets. Cross-validation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Bias-variance tradeoff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Overfitting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Precision-recall, F1 score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Confusion matrix, ROC, AUC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Typical failure modes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8" name="Google Shape;88;p1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4294967295" type="subTitle"/>
          </p:nvPr>
        </p:nvSpPr>
        <p:spPr>
          <a:xfrm>
            <a:off x="195575" y="240477"/>
            <a:ext cx="8758800" cy="4953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Alex Razim, </a:t>
            </a:r>
            <a:r>
              <a:rPr i="1" lang="ru" sz="1400">
                <a:latin typeface="Lato"/>
                <a:ea typeface="Lato"/>
                <a:cs typeface="Lato"/>
                <a:sym typeface="Lato"/>
              </a:rPr>
              <a:t>astroinformatician</a:t>
            </a:r>
            <a:r>
              <a:rPr lang="ru" sz="1400">
                <a:latin typeface="Lato"/>
                <a:ea typeface="Lato"/>
                <a:cs typeface="Lato"/>
                <a:sym typeface="Lato"/>
              </a:rPr>
              <a:t> = astronomy + ML + Data science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3"/>
          <p:cNvSpPr txBox="1"/>
          <p:nvPr>
            <p:ph idx="4294967295" type="subTitle"/>
          </p:nvPr>
        </p:nvSpPr>
        <p:spPr>
          <a:xfrm>
            <a:off x="195575" y="894450"/>
            <a:ext cx="2812500" cy="38706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98000" spcFirstLastPara="1" rIns="91425" wrap="square" tIns="198000">
            <a:normAutofit lnSpcReduction="10000"/>
          </a:bodyPr>
          <a:lstStyle/>
          <a:p>
            <a:pPr indent="0" lvl="0" marL="0" marR="9425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latin typeface="Lato"/>
                <a:ea typeface="Lato"/>
                <a:cs typeface="Lato"/>
                <a:sym typeface="Lato"/>
              </a:rPr>
              <a:t>Boring biography stuff</a:t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-165100" lvl="0" marL="180000" marR="94251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Lato"/>
              <a:buChar char="✓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I’m from Ukraine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0" marL="180000" marR="94251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Lato"/>
              <a:buChar char="✓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BSc &amp; MSc: Processing Moon images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0" marL="180000" marR="94251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Lato"/>
              <a:buChar char="✓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PhD: Photometric redshifts (aka ‘distances to many-many galaxies, but with dubious accuracy’) with ML. 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1" marL="360001" marR="94251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Defended during Covid! 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1" marL="360001" marR="94251" rtl="0" algn="just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Survived Naples!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0" marL="180000" marR="94251" rtl="0" algn="just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Lato"/>
              <a:buChar char="✓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First postdoc (Zagreb, Croatia): developed a catalogue of synthetic LSST magnitudes, organized a bunch of Python workshops for astronomers.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0" marL="180000" marR="94251" rtl="0" algn="just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SzPts val="1100"/>
              <a:buFont typeface="Lato"/>
              <a:buChar char="✓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Second postdoc: SMASH fellow in the University of Nova Gorica, Slovenia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3"/>
          <p:cNvSpPr txBox="1"/>
          <p:nvPr>
            <p:ph idx="4294967295" type="subTitle"/>
          </p:nvPr>
        </p:nvSpPr>
        <p:spPr>
          <a:xfrm>
            <a:off x="3170525" y="894450"/>
            <a:ext cx="2924400" cy="38706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98000" spcFirstLastPara="1" rIns="91425" wrap="square" tIns="19800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ru" sz="1100">
                <a:latin typeface="Lato"/>
                <a:ea typeface="Lato"/>
                <a:cs typeface="Lato"/>
                <a:sym typeface="Lato"/>
              </a:rPr>
              <a:t>The dog to look at while I babble</a:t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3"/>
          <p:cNvSpPr txBox="1"/>
          <p:nvPr>
            <p:ph idx="4294967295" type="subTitle"/>
          </p:nvPr>
        </p:nvSpPr>
        <p:spPr>
          <a:xfrm>
            <a:off x="6257225" y="898100"/>
            <a:ext cx="2697300" cy="38706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98000" spcFirstLastPara="1" rIns="91425" wrap="square" tIns="198000">
            <a:normAutofit/>
          </a:bodyPr>
          <a:lstStyle/>
          <a:p>
            <a:pPr indent="0" lvl="0" marL="0" marR="9425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ru" sz="1100">
                <a:latin typeface="Lato"/>
                <a:ea typeface="Lato"/>
                <a:cs typeface="Lato"/>
                <a:sym typeface="Lato"/>
              </a:rPr>
              <a:t>Science: rare variability search</a:t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marR="94251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 sz="1100">
                <a:latin typeface="Lato"/>
                <a:ea typeface="Lato"/>
                <a:cs typeface="Lato"/>
                <a:sym typeface="Lato"/>
              </a:rPr>
              <a:t>TL;RL: </a:t>
            </a:r>
            <a:r>
              <a:rPr lang="ru" sz="1100">
                <a:latin typeface="Lato"/>
                <a:ea typeface="Lato"/>
                <a:cs typeface="Lato"/>
                <a:sym typeface="Lato"/>
              </a:rPr>
              <a:t>we need efficient novelty detection methods for PB-scale astronomica datasets. I look for these methods.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0" lvl="0" marL="0" marR="94251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 sz="1100">
                <a:latin typeface="Lato"/>
                <a:ea typeface="Lato"/>
                <a:cs typeface="Lato"/>
                <a:sym typeface="Lato"/>
              </a:rPr>
              <a:t>Example: </a:t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3" name="Google Shape;93;p13" title="20250808_181856.jpg"/>
          <p:cNvPicPr preferRelativeResize="0"/>
          <p:nvPr/>
        </p:nvPicPr>
        <p:blipFill rotWithShape="1">
          <a:blip r:embed="rId3">
            <a:alphaModFix/>
          </a:blip>
          <a:srcRect b="5834" l="0" r="0" t="11061"/>
          <a:stretch/>
        </p:blipFill>
        <p:spPr>
          <a:xfrm>
            <a:off x="3304850" y="1379775"/>
            <a:ext cx="2655599" cy="312139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6396275" y="2487450"/>
            <a:ext cx="2419200" cy="327000"/>
          </a:xfrm>
          <a:prstGeom prst="rect">
            <a:avLst/>
          </a:prstGeom>
          <a:noFill/>
          <a:ln cap="flat" cmpd="sng" w="1905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Take large astro-survey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6396275" y="2940213"/>
            <a:ext cx="2419200" cy="436800"/>
          </a:xfrm>
          <a:prstGeom prst="rect">
            <a:avLst/>
          </a:prstGeom>
          <a:noFill/>
          <a:ln cap="flat" cmpd="sng" w="1905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Extract features using community-developed packages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6396275" y="3501600"/>
            <a:ext cx="2419200" cy="327000"/>
          </a:xfrm>
          <a:prstGeom prst="rect">
            <a:avLst/>
          </a:prstGeom>
          <a:noFill/>
          <a:ln cap="flat" cmpd="sng" w="1905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Feed to a bunch of UML algorithms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6396275" y="3963775"/>
            <a:ext cx="2419200" cy="495300"/>
          </a:xfrm>
          <a:prstGeom prst="rect">
            <a:avLst/>
          </a:prstGeom>
          <a:noFill/>
          <a:ln cap="flat" cmpd="sng" w="1905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See if we can find previous accidental discoveries </a:t>
            </a: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semi-automatically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3"/>
          <p:cNvSpPr/>
          <p:nvPr/>
        </p:nvSpPr>
        <p:spPr>
          <a:xfrm flipH="1" rot="10800000">
            <a:off x="7488000" y="2817475"/>
            <a:ext cx="172800" cy="1128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3"/>
          <p:cNvSpPr/>
          <p:nvPr/>
        </p:nvSpPr>
        <p:spPr>
          <a:xfrm flipH="1" rot="10800000">
            <a:off x="7488000" y="3379750"/>
            <a:ext cx="172800" cy="1140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3"/>
          <p:cNvSpPr/>
          <p:nvPr/>
        </p:nvSpPr>
        <p:spPr>
          <a:xfrm flipH="1" rot="10800000">
            <a:off x="7488000" y="3832525"/>
            <a:ext cx="172800" cy="1218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1994400" y="1498350"/>
            <a:ext cx="5155200" cy="21468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62000" spcFirstLastPara="1" rIns="162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Part 0: Who are you people, </a:t>
            </a:r>
            <a:b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and why are you here? 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11" name="Google Shape;111;p1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SPEC.md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5"/>
          <p:cNvSpPr txBox="1"/>
          <p:nvPr>
            <p:ph idx="3" type="body"/>
          </p:nvPr>
        </p:nvSpPr>
        <p:spPr>
          <a:xfrm>
            <a:off x="195625" y="983925"/>
            <a:ext cx="8758800" cy="37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What is your topic?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What question your work tries to answer?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How often do you write code? 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How often do you </a:t>
            </a:r>
            <a:r>
              <a:rPr i="1" lang="ru" sz="1700">
                <a:latin typeface="Lato"/>
                <a:ea typeface="Lato"/>
                <a:cs typeface="Lato"/>
                <a:sym typeface="Lato"/>
              </a:rPr>
              <a:t>generate</a:t>
            </a:r>
            <a:r>
              <a:rPr lang="ru" sz="1700">
                <a:latin typeface="Lato"/>
                <a:ea typeface="Lato"/>
                <a:cs typeface="Lato"/>
                <a:sym typeface="Lato"/>
              </a:rPr>
              <a:t> code?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Which coding languages?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Did you use ML before?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Does your group uses ML?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What should happen during this workshop for you to feel </a:t>
            </a:r>
            <a:br>
              <a:rPr lang="ru" sz="1700">
                <a:latin typeface="Lato"/>
                <a:ea typeface="Lato"/>
                <a:cs typeface="Lato"/>
                <a:sym typeface="Lato"/>
              </a:rPr>
            </a:br>
            <a:r>
              <a:rPr lang="ru" sz="1700">
                <a:latin typeface="Lato"/>
                <a:ea typeface="Lato"/>
                <a:cs typeface="Lato"/>
                <a:sym typeface="Lato"/>
              </a:rPr>
              <a:t>that you spent your time well?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1994400" y="1498350"/>
            <a:ext cx="5155200" cy="21468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62000" spcFirstLastPara="1" rIns="162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Part 1: What is Machine Learning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24" name="Google Shape;124;p1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5" name="Google Shape;125;p17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as advanced calculus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7"/>
          <p:cNvSpPr txBox="1"/>
          <p:nvPr>
            <p:ph idx="3" type="body"/>
          </p:nvPr>
        </p:nvSpPr>
        <p:spPr>
          <a:xfrm>
            <a:off x="195625" y="742950"/>
            <a:ext cx="5043000" cy="40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Machine 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algorithms that learn from data and can perform tasks for which they were not explicitly programmed.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But what do we mean by ‘learning’?..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32" name="Google Shape;132;p18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as advanced calculus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8"/>
          <p:cNvSpPr txBox="1"/>
          <p:nvPr>
            <p:ph idx="3" type="body"/>
          </p:nvPr>
        </p:nvSpPr>
        <p:spPr>
          <a:xfrm>
            <a:off x="195625" y="742950"/>
            <a:ext cx="5043000" cy="40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Machine 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algorithms that learn from data and can perform tasks for which they were not explicitly programmed.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But what do we mean by ‘learning’?..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ML method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is a method whose capabilities improve as it sees more data (D. Hogg) -&gt;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40" name="Google Shape;140;p19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1" name="Google Shape;141;p19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as advanced calculus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9"/>
          <p:cNvSpPr txBox="1"/>
          <p:nvPr>
            <p:ph idx="3" type="body"/>
          </p:nvPr>
        </p:nvSpPr>
        <p:spPr>
          <a:xfrm>
            <a:off x="195625" y="742950"/>
            <a:ext cx="5043000" cy="40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Machine 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algorithms that learn from data and can perform tasks for which they were not explicitly programmed.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But what do we mean by ‘learning’?..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ML method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is a method whose capabilities improve as it sees more data (D. Hogg) -&gt;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is the ability to perform the task better when presented with more (relevant) data.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48" name="Google Shape;148;p2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9" name="Google Shape;149;p20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as advanced calculus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20"/>
          <p:cNvSpPr txBox="1"/>
          <p:nvPr>
            <p:ph idx="3" type="body"/>
          </p:nvPr>
        </p:nvSpPr>
        <p:spPr>
          <a:xfrm>
            <a:off x="195625" y="742950"/>
            <a:ext cx="5043000" cy="40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Machine 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algorithms that learn from data and can perform tasks for which they were not explicitly programmed.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But what do we mean by ‘learning’?..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ML method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is a method whose capabilities improve as it sees more data (D. Hogg) -&gt;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is the ability to perform the task better when presented with more (relevant) data.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From the practical point of view, 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i="1" lang="ru" sz="1600" u="sng">
                <a:latin typeface="Lato"/>
                <a:ea typeface="Lato"/>
                <a:cs typeface="Lato"/>
                <a:sym typeface="Lato"/>
              </a:rPr>
              <a:t>learning = optimization = minimizing (or maximizing) certain target value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.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1" name="Google Shape;151;p20" title="PCA.gif"/>
          <p:cNvPicPr preferRelativeResize="0"/>
          <p:nvPr/>
        </p:nvPicPr>
        <p:blipFill rotWithShape="1">
          <a:blip r:embed="rId3">
            <a:alphaModFix/>
          </a:blip>
          <a:srcRect b="0" l="32873" r="30393" t="0"/>
          <a:stretch/>
        </p:blipFill>
        <p:spPr>
          <a:xfrm>
            <a:off x="5191000" y="742950"/>
            <a:ext cx="3358875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57" name="Google Shape;157;p21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8" name="Google Shape;158;p21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Minimizing what?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21"/>
          <p:cNvSpPr txBox="1"/>
          <p:nvPr>
            <p:ph idx="3" type="body"/>
          </p:nvPr>
        </p:nvSpPr>
        <p:spPr>
          <a:xfrm>
            <a:off x="195625" y="922850"/>
            <a:ext cx="8758800" cy="3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…sorry, terminology detour first.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65" name="Google Shape;165;p22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6" name="Google Shape;166;p22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Minimizing what?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2"/>
          <p:cNvSpPr txBox="1"/>
          <p:nvPr>
            <p:ph idx="3" type="body"/>
          </p:nvPr>
        </p:nvSpPr>
        <p:spPr>
          <a:xfrm>
            <a:off x="195625" y="922850"/>
            <a:ext cx="8758800" cy="3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…sorry, terminology detour first.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Data point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(sometimes called ‘sample’) - a set of observed values (‘features’) describing an object or an event (in practice: rows in the table).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Label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(or ‘target’) - the property of the data points that we try to learn, e.g. a classification (‘elliptical or spiral’, ‘a star or a quasar’) or a 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numerical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value of interest (e.g. a sersic index or a redshift). In practice: the columns.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Prediction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the label that the trained model assigns to the data point.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73" name="Google Shape;173;p2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4" name="Google Shape;174;p23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(coming back) So, m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inimizing what?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3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Loss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how we calculate an error for a single prediction. E.g.: 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square_loss = (y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pred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ru" sz="1600">
                <a:latin typeface="Lato"/>
                <a:ea typeface="Lato"/>
                <a:cs typeface="Lato"/>
                <a:sym typeface="Lato"/>
              </a:rPr>
              <a:t>2</a:t>
            </a:r>
            <a:endParaRPr baseline="30000"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Cost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loss function, averaged across the whole sample. E.g.: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Mean Squared Error, aka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How MSE would behave if you have extreme outliers?..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6" name="Google Shape;176;p23" title="m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50" y="2166286"/>
            <a:ext cx="2031925" cy="46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82" name="Google Shape;182;p24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3" name="Google Shape;183;p24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Minimizing what?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24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Loss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how we calculate an error for a single prediction. E.g.: 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square_loss = (y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pred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ru" sz="1600">
                <a:latin typeface="Lato"/>
                <a:ea typeface="Lato"/>
                <a:cs typeface="Lato"/>
                <a:sym typeface="Lato"/>
              </a:rPr>
              <a:t>2</a:t>
            </a:r>
            <a:endParaRPr baseline="30000"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Cost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loss function, averaged across the whole sample. E.g.: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Mean Squared Error, aka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How MSE would behave if you have extreme outliers?..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ru" sz="1600">
                <a:latin typeface="Lato"/>
                <a:ea typeface="Lato"/>
                <a:cs typeface="Lato"/>
                <a:sym typeface="Lato"/>
              </a:rPr>
              <a:t>MSE penalizes extreme outliers strongly. 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An alternative - </a:t>
            </a:r>
            <a:r>
              <a:rPr lang="ru" sz="1600" u="sng">
                <a:latin typeface="Lato"/>
                <a:ea typeface="Lato"/>
                <a:cs typeface="Lato"/>
                <a:sym typeface="Lato"/>
              </a:rPr>
              <a:t>Median Absolute Error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(MAD):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5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5" name="Google Shape;185;p24" title="m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50" y="2166286"/>
            <a:ext cx="2031925" cy="4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 title="mae.png"/>
          <p:cNvPicPr preferRelativeResize="0"/>
          <p:nvPr/>
        </p:nvPicPr>
        <p:blipFill rotWithShape="1">
          <a:blip r:embed="rId4">
            <a:alphaModFix/>
          </a:blip>
          <a:srcRect b="0" l="436" r="436" t="0"/>
          <a:stretch/>
        </p:blipFill>
        <p:spPr>
          <a:xfrm>
            <a:off x="916650" y="3414881"/>
            <a:ext cx="2031925" cy="484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92" name="Google Shape;192;p2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3" name="Google Shape;193;p2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Minimizing what?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5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Loss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how we calculate an error for a single prediction. E.g.: 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square_loss = (y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pred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ru" sz="1600">
                <a:latin typeface="Lato"/>
                <a:ea typeface="Lato"/>
                <a:cs typeface="Lato"/>
                <a:sym typeface="Lato"/>
              </a:rPr>
              <a:t>2</a:t>
            </a:r>
            <a:endParaRPr baseline="30000"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Cost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loss function, averaged across the whole sample. E.g.: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Mean Squared Error, aka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How MSE would behave if you have extreme outliers?..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ru" sz="1600">
                <a:latin typeface="Lato"/>
                <a:ea typeface="Lato"/>
                <a:cs typeface="Lato"/>
                <a:sym typeface="Lato"/>
              </a:rPr>
              <a:t>MSE penalizes extreme outliers strongly. 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An alternative - </a:t>
            </a:r>
            <a:r>
              <a:rPr lang="ru" sz="1600" u="sng">
                <a:latin typeface="Lato"/>
                <a:ea typeface="Lato"/>
                <a:cs typeface="Lato"/>
                <a:sym typeface="Lato"/>
              </a:rPr>
              <a:t>Median Absolute Error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(MAD):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500"/>
              </a:spcBef>
              <a:spcAft>
                <a:spcPts val="100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There is no universal cost (or loss)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. You have to choose one depending on your task (or sometimes design one)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5" name="Google Shape;195;p25" title="m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50" y="2166286"/>
            <a:ext cx="2031925" cy="4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 title="mae.png"/>
          <p:cNvPicPr preferRelativeResize="0"/>
          <p:nvPr/>
        </p:nvPicPr>
        <p:blipFill rotWithShape="1">
          <a:blip r:embed="rId4">
            <a:alphaModFix/>
          </a:blip>
          <a:srcRect b="0" l="436" r="436" t="0"/>
          <a:stretch/>
        </p:blipFill>
        <p:spPr>
          <a:xfrm>
            <a:off x="916650" y="3414881"/>
            <a:ext cx="2031925" cy="484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02" name="Google Shape;202;p2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3" name="Google Shape;203;p2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Gradient descent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6"/>
          <p:cNvSpPr txBox="1"/>
          <p:nvPr>
            <p:ph idx="3" type="body"/>
          </p:nvPr>
        </p:nvSpPr>
        <p:spPr>
          <a:xfrm>
            <a:off x="658200" y="794425"/>
            <a:ext cx="78399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We want to minimize the value of the loss function L -&gt; </a:t>
            </a:r>
            <a:br>
              <a:rPr lang="ru" sz="1300">
                <a:latin typeface="Lato"/>
                <a:ea typeface="Lato"/>
                <a:cs typeface="Lato"/>
                <a:sym typeface="Lato"/>
              </a:rPr>
            </a:br>
            <a:r>
              <a:rPr lang="ru" sz="1300">
                <a:latin typeface="Lato"/>
                <a:ea typeface="Lato"/>
                <a:cs typeface="Lato"/>
                <a:sym typeface="Lato"/>
              </a:rPr>
              <a:t>we have to move in the direction of negative gradient -&gt;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change inputs of L to move it in the direction of negative gradient -&gt;</a:t>
            </a:r>
            <a:br>
              <a:rPr lang="ru" sz="1300">
                <a:latin typeface="Lato"/>
                <a:ea typeface="Lato"/>
                <a:cs typeface="Lato"/>
                <a:sym typeface="Lato"/>
              </a:rPr>
            </a:br>
            <a:r>
              <a:rPr lang="ru" sz="1300" u="sng">
                <a:latin typeface="Lato"/>
                <a:ea typeface="Lato"/>
                <a:cs typeface="Lato"/>
                <a:sym typeface="Lato"/>
              </a:rPr>
              <a:t>gradient descent</a:t>
            </a:r>
            <a:endParaRPr sz="13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where </a:t>
            </a:r>
            <a:r>
              <a:rPr lang="ru" sz="1300">
                <a:latin typeface="Roboto Mono Medium"/>
                <a:ea typeface="Roboto Mono Medium"/>
                <a:cs typeface="Roboto Mono Medium"/>
                <a:sym typeface="Roboto Mono Medium"/>
              </a:rPr>
              <a:t>L 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is the loss function, and      - </a:t>
            </a:r>
            <a:r>
              <a:rPr i="1" lang="ru" sz="1300">
                <a:latin typeface="Lato"/>
                <a:ea typeface="Lato"/>
                <a:cs typeface="Lato"/>
                <a:sym typeface="Lato"/>
              </a:rPr>
              <a:t>learning rate</a:t>
            </a:r>
            <a:endParaRPr i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" name="Google Shape;205;p26" title="grad_des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550" y="1940700"/>
            <a:ext cx="2713538" cy="63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title="grad_desc.png"/>
          <p:cNvPicPr preferRelativeResize="0"/>
          <p:nvPr/>
        </p:nvPicPr>
        <p:blipFill rotWithShape="1">
          <a:blip r:embed="rId3">
            <a:alphaModFix/>
          </a:blip>
          <a:srcRect b="18411" l="65626" r="27299" t="29770"/>
          <a:stretch/>
        </p:blipFill>
        <p:spPr>
          <a:xfrm>
            <a:off x="3176900" y="2894838"/>
            <a:ext cx="191975" cy="3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12" name="Google Shape;212;p2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3" name="Google Shape;213;p27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Linear regression example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7"/>
          <p:cNvSpPr txBox="1"/>
          <p:nvPr>
            <p:ph idx="3" type="body"/>
          </p:nvPr>
        </p:nvSpPr>
        <p:spPr>
          <a:xfrm>
            <a:off x="658200" y="1960713"/>
            <a:ext cx="78399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x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- our data - is fixed, </a:t>
            </a: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y^true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- our labels - are fixed. We can change only </a:t>
            </a: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w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b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For 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w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,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(pay attention, we have to do the same for </a:t>
            </a: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b 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as well)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5" name="Google Shape;215;p27" title="loss_linr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800" y="1239925"/>
            <a:ext cx="3368775" cy="65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 title="linre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750" y="823870"/>
            <a:ext cx="1261125" cy="2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 title="grad_desc_linreg_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0658" y="2629797"/>
            <a:ext cx="3076775" cy="13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23" name="Google Shape;223;p28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4" name="Google Shape;224;p28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How to approximate anything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28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Single feature -&gt; many features: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6" name="Google Shape;226;p28" title="Screenshot from 2026-09-21 22-28-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25" y="1118799"/>
            <a:ext cx="4822401" cy="4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8" title="Screenshot from 2026-09-21 20-14-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4550" y="758475"/>
            <a:ext cx="2176600" cy="255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33" name="Google Shape;233;p29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34" name="Google Shape;234;p29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How to approximate anything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29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Single feature -&gt; many features: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b="1" lang="ru" sz="1300">
                <a:latin typeface="Lato"/>
                <a:ea typeface="Lato"/>
                <a:cs typeface="Lato"/>
                <a:sym typeface="Lato"/>
              </a:rPr>
              <a:t>Add layers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6" name="Google Shape;236;p29" title="Screenshot from 2026-09-21 22-28-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25" y="1118799"/>
            <a:ext cx="4822401" cy="4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9" title="Screenshot from 2026-09-21 20-14-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825" y="706900"/>
            <a:ext cx="2711101" cy="224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43" name="Google Shape;243;p3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4" name="Google Shape;244;p30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How to approximate anything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30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Single feature -&gt; many features: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Add layers</a:t>
            </a:r>
            <a:br>
              <a:rPr lang="ru" sz="1300">
                <a:latin typeface="Lato"/>
                <a:ea typeface="Lato"/>
                <a:cs typeface="Lato"/>
                <a:sym typeface="Lato"/>
              </a:rPr>
            </a:br>
            <a:br>
              <a:rPr lang="ru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Add an </a:t>
            </a:r>
            <a:r>
              <a:rPr b="1" lang="ru" sz="1300">
                <a:latin typeface="Lato"/>
                <a:ea typeface="Lato"/>
                <a:cs typeface="Lato"/>
                <a:sym typeface="Lato"/>
              </a:rPr>
              <a:t>activation function 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(because without one you always produce </a:t>
            </a:r>
            <a:br>
              <a:rPr lang="ru" sz="1300">
                <a:latin typeface="Lato"/>
                <a:ea typeface="Lato"/>
                <a:cs typeface="Lato"/>
                <a:sym typeface="Lato"/>
              </a:rPr>
            </a:br>
            <a:r>
              <a:rPr lang="ru" sz="1300">
                <a:latin typeface="Lato"/>
                <a:ea typeface="Lato"/>
                <a:cs typeface="Lato"/>
                <a:sym typeface="Lato"/>
              </a:rPr>
              <a:t>only straight lines)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6" name="Google Shape;246;p30" title="Screenshot from 2026-09-21 22-28-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25" y="1118799"/>
            <a:ext cx="4822401" cy="4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0" title="Screenshot from 2026-09-21 20-14-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825" y="706900"/>
            <a:ext cx="2711101" cy="224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0" title="Screenshot from 2026-09-21 22-39-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825" y="3121082"/>
            <a:ext cx="6326600" cy="11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54" name="Google Shape;254;p31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55" name="Google Shape;255;p31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But how do we update all the weights?..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31"/>
          <p:cNvSpPr txBox="1"/>
          <p:nvPr>
            <p:ph idx="3" type="body"/>
          </p:nvPr>
        </p:nvSpPr>
        <p:spPr>
          <a:xfrm>
            <a:off x="635000" y="794425"/>
            <a:ext cx="79254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Que </a:t>
            </a:r>
            <a:r>
              <a:rPr b="1" lang="ru" sz="1300">
                <a:latin typeface="Lato"/>
                <a:ea typeface="Lato"/>
                <a:cs typeface="Lato"/>
                <a:sym typeface="Lato"/>
              </a:rPr>
              <a:t>backpropagation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7" name="Google Shape;257;p31" title="Screenshot from 2026-09-21 20-14-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825" y="706900"/>
            <a:ext cx="2711101" cy="224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1" title="grad_desc_linreg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00" y="1220702"/>
            <a:ext cx="3186800" cy="27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64" name="Google Shape;264;p32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65" name="Google Shape;265;p32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But how do we update all the weights?..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32"/>
          <p:cNvSpPr txBox="1"/>
          <p:nvPr>
            <p:ph idx="3" type="body"/>
          </p:nvPr>
        </p:nvSpPr>
        <p:spPr>
          <a:xfrm>
            <a:off x="635000" y="794425"/>
            <a:ext cx="79254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Que </a:t>
            </a:r>
            <a:r>
              <a:rPr b="1" lang="ru" sz="1300">
                <a:latin typeface="Lato"/>
                <a:ea typeface="Lato"/>
                <a:cs typeface="Lato"/>
                <a:sym typeface="Lato"/>
              </a:rPr>
              <a:t>backpropagation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7" name="Google Shape;267;p32" title="Screenshot from 2026-09-21 20-14-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825" y="706900"/>
            <a:ext cx="2711101" cy="224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2" title="grad_desc_linreg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00" y="1220702"/>
            <a:ext cx="3186800" cy="27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2"/>
          <p:cNvSpPr/>
          <p:nvPr/>
        </p:nvSpPr>
        <p:spPr>
          <a:xfrm>
            <a:off x="3306800" y="3246875"/>
            <a:ext cx="682800" cy="718800"/>
          </a:xfrm>
          <a:prstGeom prst="rect">
            <a:avLst/>
          </a:prstGeom>
          <a:noFill/>
          <a:ln cap="flat" cmpd="sng" w="2857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1739900" y="3204000"/>
            <a:ext cx="1429200" cy="7617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712875" y="3225450"/>
            <a:ext cx="889200" cy="824100"/>
          </a:xfrm>
          <a:prstGeom prst="rect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2" name="Google Shape;272;p32"/>
          <p:cNvCxnSpPr/>
          <p:nvPr/>
        </p:nvCxnSpPr>
        <p:spPr>
          <a:xfrm rot="10800000">
            <a:off x="4097450" y="3791900"/>
            <a:ext cx="826800" cy="78000"/>
          </a:xfrm>
          <a:prstGeom prst="straightConnector1">
            <a:avLst/>
          </a:prstGeom>
          <a:noFill/>
          <a:ln cap="flat" cmpd="sng" w="28575">
            <a:solidFill>
              <a:srgbClr val="741B4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32"/>
          <p:cNvCxnSpPr/>
          <p:nvPr/>
        </p:nvCxnSpPr>
        <p:spPr>
          <a:xfrm rot="10800000">
            <a:off x="2827700" y="4013625"/>
            <a:ext cx="341400" cy="41940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32"/>
          <p:cNvCxnSpPr/>
          <p:nvPr/>
        </p:nvCxnSpPr>
        <p:spPr>
          <a:xfrm rot="10800000">
            <a:off x="1086875" y="4088050"/>
            <a:ext cx="458700" cy="321000"/>
          </a:xfrm>
          <a:prstGeom prst="straightConnector1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32"/>
          <p:cNvSpPr txBox="1"/>
          <p:nvPr/>
        </p:nvSpPr>
        <p:spPr>
          <a:xfrm>
            <a:off x="4870337" y="3679381"/>
            <a:ext cx="4014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3115175" y="4214025"/>
            <a:ext cx="19323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local derivative for the neuron</a:t>
            </a:r>
            <a:endParaRPr b="1"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1488237" y="4237972"/>
            <a:ext cx="16509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backpropagated derivative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83" name="Google Shape;283;p3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84" name="Google Shape;284;p33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Playtime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33"/>
          <p:cNvSpPr txBox="1"/>
          <p:nvPr/>
        </p:nvSpPr>
        <p:spPr>
          <a:xfrm>
            <a:off x="850650" y="9764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https://playground.tensorflow.org/</a:t>
            </a:r>
            <a:endParaRPr/>
          </a:p>
        </p:txBody>
      </p:sp>
      <p:pic>
        <p:nvPicPr>
          <p:cNvPr id="286" name="Google Shape;286;p33" title="Screenshot from 2026-09-21 23-10-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1850" y="900025"/>
            <a:ext cx="4917599" cy="32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/>
          <p:nvPr/>
        </p:nvSpPr>
        <p:spPr>
          <a:xfrm>
            <a:off x="1994400" y="1498350"/>
            <a:ext cx="5155200" cy="21468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62000" spcFirstLastPara="1" rIns="162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Part 2: ML Zoo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35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35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35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301" name="Google Shape;301;p3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02" name="Google Shape;302;p3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35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5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35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7" name="Google Shape;307;p35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308" name="Google Shape;308;p35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9" name="Google Shape;309;p35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10" name="Google Shape;310;p35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311" name="Google Shape;311;p35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2" name="Google Shape;312;p35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13" name="Google Shape;313;p35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314" name="Google Shape;314;p35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5" name="Google Shape;315;p35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16" name="Google Shape;316;p35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317" name="Google Shape;317;p35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8" name="Google Shape;318;p35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19" name="Google Shape;319;p35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1" name="Google Shape;321;p35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322" name="Google Shape;322;p35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3" name="Google Shape;323;p35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4" name="Google Shape;324;p35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325" name="Google Shape;325;p35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6" name="Google Shape;326;p35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7" name="Google Shape;327;p35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328" name="Google Shape;328;p35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9" name="Google Shape;329;p35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30" name="Google Shape;330;p35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35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35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6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36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36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36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3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343" name="Google Shape;343;p3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44" name="Google Shape;344;p3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" name="Google Shape;345;p36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36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36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36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49" name="Google Shape;349;p36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350" name="Google Shape;350;p36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1" name="Google Shape;351;p36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52" name="Google Shape;352;p36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353" name="Google Shape;353;p36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4" name="Google Shape;354;p36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55" name="Google Shape;355;p36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356" name="Google Shape;356;p36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7" name="Google Shape;357;p36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58" name="Google Shape;358;p36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359" name="Google Shape;359;p36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0" name="Google Shape;360;p36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61" name="Google Shape;361;p36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63" name="Google Shape;363;p36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364" name="Google Shape;364;p36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5" name="Google Shape;365;p36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66" name="Google Shape;366;p36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367" name="Google Shape;367;p36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8" name="Google Shape;368;p36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69" name="Google Shape;369;p36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370" name="Google Shape;370;p36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1" name="Google Shape;371;p36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72" name="Google Shape;372;p36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36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36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6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37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37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37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3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385" name="Google Shape;385;p3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86" name="Google Shape;386;p37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7" name="Google Shape;387;p37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37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37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91" name="Google Shape;391;p37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392" name="Google Shape;392;p37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3" name="Google Shape;393;p37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94" name="Google Shape;394;p37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395" name="Google Shape;395;p37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6" name="Google Shape;396;p37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97" name="Google Shape;397;p37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398" name="Google Shape;398;p37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9" name="Google Shape;399;p37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0" name="Google Shape;400;p37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401" name="Google Shape;401;p37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2" name="Google Shape;402;p37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03" name="Google Shape;403;p37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37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05" name="Google Shape;405;p37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406" name="Google Shape;406;p37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7" name="Google Shape;407;p37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8" name="Google Shape;408;p37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409" name="Google Shape;409;p37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0" name="Google Shape;410;p37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1" name="Google Shape;411;p37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412" name="Google Shape;412;p37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3" name="Google Shape;413;p37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14" name="Google Shape;414;p37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7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p37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37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8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38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38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38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427" name="Google Shape;427;p38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28" name="Google Shape;428;p38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" name="Google Shape;429;p38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8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8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38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33" name="Google Shape;433;p38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434" name="Google Shape;434;p38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5" name="Google Shape;435;p38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36" name="Google Shape;436;p38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437" name="Google Shape;437;p38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8" name="Google Shape;438;p38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39" name="Google Shape;439;p38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440" name="Google Shape;440;p38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1" name="Google Shape;441;p38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42" name="Google Shape;442;p38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443" name="Google Shape;443;p38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4" name="Google Shape;444;p38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45" name="Google Shape;445;p38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38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47" name="Google Shape;447;p38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448" name="Google Shape;448;p38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9" name="Google Shape;449;p38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50" name="Google Shape;450;p38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451" name="Google Shape;451;p38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52" name="Google Shape;452;p38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53" name="Google Shape;453;p38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454" name="Google Shape;454;p38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55" name="Google Shape;455;p38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56" name="Google Shape;456;p38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38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38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9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39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39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39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3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469" name="Google Shape;469;p39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0" name="Google Shape;470;p39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1" name="Google Shape;471;p39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39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39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39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75" name="Google Shape;475;p39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476" name="Google Shape;476;p39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7" name="Google Shape;477;p39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78" name="Google Shape;478;p39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479" name="Google Shape;479;p39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0" name="Google Shape;480;p39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81" name="Google Shape;481;p39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482" name="Google Shape;482;p39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3" name="Google Shape;483;p39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84" name="Google Shape;484;p39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485" name="Google Shape;485;p39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6" name="Google Shape;486;p39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87" name="Google Shape;487;p39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39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89" name="Google Shape;489;p39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490" name="Google Shape;490;p39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1" name="Google Shape;491;p39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92" name="Google Shape;492;p39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493" name="Google Shape;493;p39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4" name="Google Shape;494;p39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95" name="Google Shape;495;p39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496" name="Google Shape;496;p39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7" name="Google Shape;497;p39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98" name="Google Shape;498;p39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39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39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0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40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40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p40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4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511" name="Google Shape;511;p4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12" name="Google Shape;512;p40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" name="Google Shape;513;p40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40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40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40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7" name="Google Shape;517;p40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518" name="Google Shape;518;p40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9" name="Google Shape;519;p40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20" name="Google Shape;520;p40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521" name="Google Shape;521;p40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2" name="Google Shape;522;p40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23" name="Google Shape;523;p40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524" name="Google Shape;524;p40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5" name="Google Shape;525;p40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26" name="Google Shape;526;p40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527" name="Google Shape;527;p40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8" name="Google Shape;528;p40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29" name="Google Shape;529;p40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40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31" name="Google Shape;531;p40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532" name="Google Shape;532;p40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3" name="Google Shape;533;p40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34" name="Google Shape;534;p40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535" name="Google Shape;535;p40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6" name="Google Shape;536;p40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37" name="Google Shape;537;p40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538" name="Google Shape;538;p40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9" name="Google Shape;539;p40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40" name="Google Shape;540;p40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p40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40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40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1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41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p41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41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4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553" name="Google Shape;553;p41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4" name="Google Shape;554;p41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" name="Google Shape;555;p41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41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41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41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59" name="Google Shape;559;p41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560" name="Google Shape;560;p41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1" name="Google Shape;561;p41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62" name="Google Shape;562;p41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563" name="Google Shape;563;p41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4" name="Google Shape;564;p41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65" name="Google Shape;565;p41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566" name="Google Shape;566;p41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7" name="Google Shape;567;p41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68" name="Google Shape;568;p41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569" name="Google Shape;569;p41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0" name="Google Shape;570;p41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71" name="Google Shape;571;p41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41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73" name="Google Shape;573;p41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574" name="Google Shape;574;p41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5" name="Google Shape;575;p41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577" name="Google Shape;577;p41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8" name="Google Shape;578;p41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580" name="Google Shape;580;p41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1" name="Google Shape;581;p41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82" name="Google Shape;582;p41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41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41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41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2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42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42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42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4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595" name="Google Shape;595;p42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6" name="Google Shape;596;p42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" name="Google Shape;597;p42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42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42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42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01" name="Google Shape;601;p42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602" name="Google Shape;602;p42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3" name="Google Shape;603;p42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04" name="Google Shape;604;p42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605" name="Google Shape;605;p42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6" name="Google Shape;606;p42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07" name="Google Shape;607;p42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608" name="Google Shape;608;p42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9" name="Google Shape;609;p42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10" name="Google Shape;610;p42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611" name="Google Shape;611;p42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12" name="Google Shape;612;p42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13" name="Google Shape;613;p42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42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15" name="Google Shape;615;p42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616" name="Google Shape;616;p42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17" name="Google Shape;617;p42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18" name="Google Shape;618;p42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619" name="Google Shape;619;p42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0" name="Google Shape;620;p42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21" name="Google Shape;621;p42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622" name="Google Shape;622;p42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3" name="Google Shape;623;p42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24" name="Google Shape;624;p42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42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42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42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3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3" name="Google Shape;633;p43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4" name="Google Shape;634;p43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43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4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637" name="Google Shape;637;p4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38" name="Google Shape;638;p43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" name="Google Shape;639;p43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43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1" name="Google Shape;641;p43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2" name="Google Shape;642;p43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43" name="Google Shape;643;p43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644" name="Google Shape;644;p43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5" name="Google Shape;645;p43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46" name="Google Shape;646;p43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647" name="Google Shape;647;p43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8" name="Google Shape;648;p43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49" name="Google Shape;649;p43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650" name="Google Shape;650;p43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1" name="Google Shape;651;p43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52" name="Google Shape;652;p43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653" name="Google Shape;653;p43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4" name="Google Shape;654;p43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55" name="Google Shape;655;p43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6" name="Google Shape;656;p43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57" name="Google Shape;657;p43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658" name="Google Shape;658;p43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9" name="Google Shape;659;p43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60" name="Google Shape;660;p43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661" name="Google Shape;661;p43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2" name="Google Shape;662;p43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63" name="Google Shape;663;p43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664" name="Google Shape;664;p43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5" name="Google Shape;665;p43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66" name="Google Shape;666;p43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7" name="Google Shape;667;p43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p43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43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4"/>
          <p:cNvSpPr/>
          <p:nvPr/>
        </p:nvSpPr>
        <p:spPr>
          <a:xfrm>
            <a:off x="1994400" y="1498350"/>
            <a:ext cx="5155200" cy="21468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62000" spcFirstLastPara="1" rIns="162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Part 3: Interrogating </a:t>
            </a:r>
            <a:b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 Black Box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680" name="Google Shape;680;p4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81" name="Google Shape;681;p4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Exploratory Data Analysis or EDA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2" name="Google Shape;682;p45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Exploratory Data Analysis = systematic inspection of structure, distributions, relationships and anomalies in the dataset.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Purpose: detect errors, form hypotheses, and understand modeling constraints.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Steps: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Dataset shape - size and dimensionality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Missing value analysis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Summary statistics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Feature distributions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2D relationships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Correlation analysis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Target variable inspection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Lots of plots. LOTS.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688" name="Google Shape;688;p4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89" name="Google Shape;689;p4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Basic stats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0" name="Google Shape;690;p46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‘Five number summary’: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spcBef>
                <a:spcPts val="100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Extrema: min, max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Median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Q1, Q3 (values that split the lowest 25% of data from the highest 75% and vice versa) -&gt; Q3-Q1 aka ‘interquantile range’ is a common ML feature!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Also: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spcBef>
                <a:spcPts val="100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Mean (but median is more robus)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Standard deviation (but quantiles are more robust again)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696" name="Google Shape;696;p47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7" name="Google Shape;697;p47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98" name="Google Shape;698;p47" title="anscombe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04" name="Google Shape;704;p48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5" name="Google Shape;705;p48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06" name="Google Shape;706;p48" title="anscombe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12" name="Google Shape;712;p49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3" name="Google Shape;713;p49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14" name="Google Shape;714;p49" title="anscombe-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20" name="Google Shape;720;p50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" name="Google Shape;721;p50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22" name="Google Shape;722;p50" title="anscombe-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28" name="Google Shape;728;p51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9" name="Google Shape;729;p51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30" name="Google Shape;730;p51" title="anscombe-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36" name="Google Shape;736;p52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7" name="Google Shape;737;p52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38" name="Google Shape;738;p52" title="anscombe-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9" name="Google Shape;739;p52" title="98213-meme-angry-face-download-hq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7213" y="1594525"/>
            <a:ext cx="2864125" cy="29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45" name="Google Shape;745;p5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46" name="Google Shape;746;p53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Distributions matter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7" name="Google Shape;747;p53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Things to inspect: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Skewness (affects gradient-based optimization)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Heavy tails (amplify variance)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Multimodality (suggests hidden subpopulations)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Outliers (distort scaling and correlation)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4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53" name="Google Shape;753;p54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54" name="Google Shape;754;p54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Exhibit A: ‘Long tail’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55" name="Google Shape;755;p54" title="distr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1275" y="1395416"/>
            <a:ext cx="418147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54" title="distr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225" y="1395416"/>
            <a:ext cx="371475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54"/>
          <p:cNvSpPr txBox="1"/>
          <p:nvPr/>
        </p:nvSpPr>
        <p:spPr>
          <a:xfrm>
            <a:off x="509650" y="4152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999999"/>
                </a:solidFill>
              </a:rPr>
              <a:t>https://habr.com/ru/articles/527334/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63" name="Google Shape;763;p5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64" name="Google Shape;764;p5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Exhibit B: Type of distribution and standatization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65" name="Google Shape;765;p55" title="distr_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150" y="1404953"/>
            <a:ext cx="370522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55" title="distr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958" y="1404941"/>
            <a:ext cx="3705225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5"/>
          <p:cNvSpPr txBox="1"/>
          <p:nvPr/>
        </p:nvSpPr>
        <p:spPr>
          <a:xfrm>
            <a:off x="509650" y="4152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999999"/>
                </a:solidFill>
              </a:rPr>
              <a:t>https://habr.com/ru/articles/527334/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73" name="Google Shape;773;p5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74" name="Google Shape;774;p5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Correlation analysis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5" name="Google Shape;775;p56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Pearson correlation: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250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Sensitive to outliers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Misses nonlinear structure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Does not imply causation!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High correlation → possible redundancy → risk of overfitting later, however, 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b="1" lang="ru" sz="1500">
                <a:latin typeface="Lato"/>
                <a:ea typeface="Lato"/>
                <a:cs typeface="Lato"/>
                <a:sym typeface="Lato"/>
              </a:rPr>
              <a:t>conditional feature importance is a thing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. 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76" name="Google Shape;776;p56" title="corr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800" y="1274738"/>
            <a:ext cx="4318025" cy="8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82" name="Google Shape;782;p5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83" name="Google Shape;783;p57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Correlation analysis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84" name="Google Shape;784;p57" title="Screenshot from 2026-02-20 10-38-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900" y="625575"/>
            <a:ext cx="4823717" cy="413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90" name="Google Shape;790;p58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91" name="Google Shape;791;p58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Label leakage detection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2" name="Google Shape;792;p58"/>
          <p:cNvSpPr txBox="1"/>
          <p:nvPr>
            <p:ph idx="3" type="body"/>
          </p:nvPr>
        </p:nvSpPr>
        <p:spPr>
          <a:xfrm>
            <a:off x="195625" y="794425"/>
            <a:ext cx="85107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360001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ru" sz="1500" u="sng">
                <a:latin typeface="Lato"/>
                <a:ea typeface="Lato"/>
                <a:cs typeface="Lato"/>
                <a:sym typeface="Lato"/>
              </a:rPr>
              <a:t>Label leakage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 – ‘use of information during model training that would not be available at prediction time’. 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Examples: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23850" lvl="0" marL="720000" rtl="0" algn="l">
              <a:spcBef>
                <a:spcPts val="2000"/>
              </a:spcBef>
              <a:spcAft>
                <a:spcPts val="0"/>
              </a:spcAft>
              <a:buSzPts val="1500"/>
              <a:buFont typeface="Lato"/>
              <a:buChar char="-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using total number of visits to a doctor when trying to predict illness recurrence risk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23850" lvl="0" marL="72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-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using total number of observations when trying to classify rare, super-interesting objects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23850" lvl="0" marL="72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-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timestamps, coordinates, hand-written labels on X-ray images…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23850" lvl="0" marL="72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-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features extraction or any kind of preprocessing done separately for different 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classes of objects (with some parameters changing in the process)))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Leads to artificially high validation performance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If corr matrix shows super-high correlation of one or few features with the label - you’re in trouble (likely)).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98" name="Google Shape;798;p59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99" name="Google Shape;799;p59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More ≠ better: Curse of Dimensionality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0" name="Google Shape;800;p59"/>
          <p:cNvSpPr txBox="1"/>
          <p:nvPr>
            <p:ph idx="3" type="body"/>
          </p:nvPr>
        </p:nvSpPr>
        <p:spPr>
          <a:xfrm>
            <a:off x="922213" y="1998387"/>
            <a:ext cx="3857700" cy="25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As feature dimension increases: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65100" lvl="0" marL="269999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Distances become similar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6510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Data becomes sparse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6510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Density estimation becomes unreliable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High-dimensional space is mostly empty :/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1" name="Google Shape;801;p59" title="curse_of_di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525" y="1061641"/>
            <a:ext cx="439102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59" title="curse_of_dim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0275" y="2038548"/>
            <a:ext cx="3360150" cy="20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08" name="Google Shape;808;p6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09" name="Google Shape;809;p60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More ≠ better: Curse of Dimensionality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10" name="Google Shape;810;p60" title="curse_of_dim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300" y="1164088"/>
            <a:ext cx="8027401" cy="281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16" name="Google Shape;816;p61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17" name="Google Shape;817;p61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More ≠ better: 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Bias-Variance Tradeoff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8" name="Google Shape;818;p61"/>
          <p:cNvSpPr txBox="1"/>
          <p:nvPr>
            <p:ph idx="3" type="body"/>
          </p:nvPr>
        </p:nvSpPr>
        <p:spPr>
          <a:xfrm>
            <a:off x="270747" y="1102889"/>
            <a:ext cx="4332900" cy="32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1800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Small dataset + many features -&gt; high variance.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Model complexity increases -&gt; training error decreases. Because the model memorizes everything!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Validation error eventually increases (good performance on 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train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 split, but bad on unfamiliar data).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Consequence –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overfitting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: the model learns noise instead of signal.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Rule of thumbs: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num_samples &gt; x*num_features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(x commonly equals 5, but it depends)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19" name="Google Shape;819;p61" title="bullsey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553" y="925366"/>
            <a:ext cx="3942951" cy="3539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25" name="Google Shape;825;p62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26" name="Google Shape;826;p62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Feature selection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7" name="Google Shape;827;p62"/>
          <p:cNvSpPr txBox="1"/>
          <p:nvPr>
            <p:ph idx="3" type="body"/>
          </p:nvPr>
        </p:nvSpPr>
        <p:spPr>
          <a:xfrm>
            <a:off x="561400" y="777725"/>
            <a:ext cx="80271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Goal:  Reduce variance, remove noise, and lower parameter space dimensionality.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Methods: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20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Correlation filtering: remove highly correlated features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Greedy selection:  iterative addition/removal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Tree-based importance: model-based ranking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Permutation importance: measure performance drop when feature shuffled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Selection reduces overfitting risk.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33" name="Google Shape;833;p6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34" name="Google Shape;834;p63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The Holy Trinity: Train / Validation / Test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5" name="Google Shape;835;p63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Classic split of the whole dataset with labels: train/validation/test, 60/20/20%.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Lato"/>
                <a:ea typeface="Lato"/>
                <a:cs typeface="Lato"/>
                <a:sym typeface="Lato"/>
              </a:rPr>
              <a:t>Train: 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Fit parameters (the subset on which you train your models).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Lato"/>
                <a:ea typeface="Lato"/>
                <a:cs typeface="Lato"/>
                <a:sym typeface="Lato"/>
              </a:rPr>
              <a:t>Validation: 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Tune hyperparameters (the subset you use for evaluating the performance while tweaking the knobs).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Lato"/>
                <a:ea typeface="Lato"/>
                <a:cs typeface="Lato"/>
                <a:sym typeface="Lato"/>
              </a:rPr>
              <a:t>Test: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 Final unbiased estimate (the subset which numbers you report in the paper).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0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Preprocessing must be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learned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 (‘fit’ methods) on training data only, then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applied 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(‘transform’ methods) on everything else.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4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41" name="Google Shape;841;p64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42" name="Google Shape;842;p64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If you don’t have that much data…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3" name="Google Shape;843;p64"/>
          <p:cNvSpPr txBox="1"/>
          <p:nvPr>
            <p:ph idx="3" type="body"/>
          </p:nvPr>
        </p:nvSpPr>
        <p:spPr>
          <a:xfrm>
            <a:off x="346028" y="1256170"/>
            <a:ext cx="3497400" cy="33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k-fold cross-validation: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450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Split data into k parts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Train on k−1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Validate on remaining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Average results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Reduces variance of estimate.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44" name="Google Shape;844;p64" title="k-fol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584" y="1138639"/>
            <a:ext cx="5001751" cy="300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50" name="Google Shape;850;p6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51" name="Google Shape;851;p6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Model Robustness and Distribution Shift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2" name="Google Shape;852;p65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odel robustness: making sure that 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90500" lvl="0" marL="810000" rtl="0" algn="l">
              <a:spcBef>
                <a:spcPts val="120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the model performs well if some feature is messed up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90500" lvl="0" marL="81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if there is noise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90500" lvl="0" marL="81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if feature relations have changed (data distribution shift).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Types of distribution shift: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810000" rtl="0" algn="l">
              <a:spcBef>
                <a:spcPts val="120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Covariate shift (features change)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81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Concept drift (target relation changes)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ML models are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interpolators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, not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extrapolators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. Verify parameter space distributions! 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58" name="Google Shape;858;p6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59" name="Google Shape;859;p6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Classification Metrics: TP, TN, FP, FN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0" name="Google Shape;860;p66"/>
          <p:cNvSpPr txBox="1"/>
          <p:nvPr>
            <p:ph idx="3" type="body"/>
          </p:nvPr>
        </p:nvSpPr>
        <p:spPr>
          <a:xfrm>
            <a:off x="442825" y="794425"/>
            <a:ext cx="85116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For binary classification, there are following possibilities: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861" name="Google Shape;861;p66"/>
          <p:cNvGraphicFramePr/>
          <p:nvPr/>
        </p:nvGraphicFramePr>
        <p:xfrm>
          <a:off x="1984400" y="14654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{AFDB266F-04EB-4D0B-89A0-1A328DB709BE}</a:tableStyleId>
              </a:tblPr>
              <a:tblGrid>
                <a:gridCol w="1437075"/>
                <a:gridCol w="1953100"/>
                <a:gridCol w="1785025"/>
              </a:tblGrid>
              <a:tr h="85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Predicted class: 0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Predicted class: 1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Real class: 0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True negatives (</a:t>
                      </a:r>
                      <a:r>
                        <a:rPr b="1" lang="ru"/>
                        <a:t>TN</a:t>
                      </a:r>
                      <a:r>
                        <a:rPr lang="ru"/>
                        <a:t>)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False positives (</a:t>
                      </a:r>
                      <a:r>
                        <a:rPr b="1" lang="ru"/>
                        <a:t>FP</a:t>
                      </a:r>
                      <a:r>
                        <a:rPr lang="ru"/>
                        <a:t>)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Real class: 1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False negatives (</a:t>
                      </a:r>
                      <a:r>
                        <a:rPr b="1" lang="ru"/>
                        <a:t>FN</a:t>
                      </a:r>
                      <a:r>
                        <a:rPr lang="ru"/>
                        <a:t>)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True positives (</a:t>
                      </a:r>
                      <a:r>
                        <a:rPr b="1" lang="ru"/>
                        <a:t>TP</a:t>
                      </a:r>
                      <a:r>
                        <a:rPr lang="ru"/>
                        <a:t>)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6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67" name="Google Shape;867;p6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68" name="Google Shape;868;p67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Classification 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Metrics: higher level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9" name="Google Shape;869;p67"/>
          <p:cNvSpPr txBox="1"/>
          <p:nvPr>
            <p:ph idx="3" type="body"/>
          </p:nvPr>
        </p:nvSpPr>
        <p:spPr>
          <a:xfrm>
            <a:off x="626650" y="1386975"/>
            <a:ext cx="8327700" cy="31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Precision=TP​/(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TP+FP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Recall = TP/(TP+FN)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F1 = 2P*R/(P+R​)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Receiver operating characteristic curve (ROC): 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True Positive Rate to False Positive Rate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70" name="Google Shape;870;p67" title="Screenshot from 2026-02-20 08-32-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151" y="710872"/>
            <a:ext cx="3843438" cy="395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6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76" name="Google Shape;876;p68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77" name="Google Shape;877;p68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Classification 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Metrics: higher level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8" name="Google Shape;878;p68"/>
          <p:cNvSpPr txBox="1"/>
          <p:nvPr>
            <p:ph idx="3" type="body"/>
          </p:nvPr>
        </p:nvSpPr>
        <p:spPr>
          <a:xfrm>
            <a:off x="442825" y="794425"/>
            <a:ext cx="85116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Precision=TP​/(TP+FP)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Recall = TP/(TP+FN)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F1 = 2P*R/(P+R​)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Receiver operating characteristic curve (ROC): 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True Positives to False Positives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Area Under the Curve: rough metric to compare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model performances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79" name="Google Shape;879;p68" title="ROC_curve_example_highlighting_sub-area_with_low_sensitivity_and_low_specific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338" y="733113"/>
            <a:ext cx="3838575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85" name="Google Shape;885;p69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86" name="Google Shape;886;p69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Classification 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Metrics: higher level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7" name="Google Shape;887;p69"/>
          <p:cNvSpPr txBox="1"/>
          <p:nvPr/>
        </p:nvSpPr>
        <p:spPr>
          <a:xfrm>
            <a:off x="651700" y="894025"/>
            <a:ext cx="7469700" cy="7788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A7F37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sklearn.metrics </a:t>
            </a:r>
            <a:r>
              <a:rPr lang="ru" sz="1200">
                <a:solidFill>
                  <a:srgbClr val="1A7F37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classification_report</a:t>
            </a:r>
            <a:endParaRPr sz="1200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ru" sz="12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classification_report</a:t>
            </a:r>
            <a:r>
              <a:rPr lang="ru" sz="12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y_test</a:t>
            </a:r>
            <a:r>
              <a:rPr lang="ru" sz="12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pred</a:t>
            </a:r>
            <a:r>
              <a:rPr lang="ru" sz="12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0055A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88" name="Google Shape;888;p69"/>
          <p:cNvSpPr txBox="1"/>
          <p:nvPr>
            <p:ph idx="3" type="body"/>
          </p:nvPr>
        </p:nvSpPr>
        <p:spPr>
          <a:xfrm>
            <a:off x="651700" y="1824200"/>
            <a:ext cx="5205300" cy="2654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  precision    recall  f1-score    support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0       0.98      0.97      0.98       357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1       0.58      0.63      0.60        30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2       0.88      0.96      0.92       158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3       0.75      0.82      0.78        33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4       0.29      0.13      0.18        31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accuracy                           0.90       609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macro avg       0.69      0.70      0.69       609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weighted avg       0.89      0.90      0.89       609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94" name="Google Shape;894;p7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95" name="Google Shape;895;p70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Classification 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Metrics: higher level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6" name="Google Shape;896;p70"/>
          <p:cNvSpPr txBox="1"/>
          <p:nvPr/>
        </p:nvSpPr>
        <p:spPr>
          <a:xfrm>
            <a:off x="300775" y="693500"/>
            <a:ext cx="6024300" cy="11043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A7F37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sklearn.metrics </a:t>
            </a:r>
            <a:r>
              <a:rPr lang="ru" sz="1100">
                <a:solidFill>
                  <a:srgbClr val="1A7F37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ConfusionMatrixDisplay</a:t>
            </a:r>
            <a:endParaRPr sz="1100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ConfusionMatrixDisplay</a:t>
            </a:r>
            <a:r>
              <a:rPr lang="ru" sz="1100">
                <a:solidFill>
                  <a:srgbClr val="8250DF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from_predictions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y_test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pred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display_labels</a:t>
            </a:r>
            <a:r>
              <a:rPr lang="ru" sz="1100">
                <a:solidFill>
                  <a:srgbClr val="8250D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'AGN'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'TDE'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'SN Ia'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'SN II'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'rest'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],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normalize</a:t>
            </a:r>
            <a:r>
              <a:rPr lang="ru" sz="1100">
                <a:solidFill>
                  <a:srgbClr val="8250D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'true'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97" name="Google Shape;897;p70" title="Screenshot from 2026-02-20 08-39-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551" y="1638899"/>
            <a:ext cx="3837124" cy="3085774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1"/>
          <p:cNvSpPr txBox="1"/>
          <p:nvPr>
            <p:ph idx="4294967295" type="subTitle"/>
          </p:nvPr>
        </p:nvSpPr>
        <p:spPr>
          <a:xfrm>
            <a:off x="199975" y="239975"/>
            <a:ext cx="4275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    Regression metrics: MAE and RMSE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3" name="Google Shape;903;p71"/>
          <p:cNvSpPr txBox="1"/>
          <p:nvPr>
            <p:ph idx="4294967295" type="body"/>
          </p:nvPr>
        </p:nvSpPr>
        <p:spPr>
          <a:xfrm>
            <a:off x="195625" y="794425"/>
            <a:ext cx="42243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Mean absolute error (MAE):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Root mean square error (RMSE):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04" name="Google Shape;904;p71" title="Screenshot from 2026-02-20 09-02-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53" y="1237250"/>
            <a:ext cx="2858249" cy="112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1" title="Screenshot from 2026-02-20 09-02-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59" y="2927696"/>
            <a:ext cx="3512550" cy="1332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1"/>
          <p:cNvSpPr txBox="1"/>
          <p:nvPr>
            <p:ph idx="4294967295" type="body"/>
          </p:nvPr>
        </p:nvSpPr>
        <p:spPr>
          <a:xfrm>
            <a:off x="4812625" y="239975"/>
            <a:ext cx="4158000" cy="4576500"/>
          </a:xfrm>
          <a:prstGeom prst="rect">
            <a:avLst/>
          </a:prstGeom>
          <a:solidFill>
            <a:srgbClr val="FFFFFF">
              <a:alpha val="90360"/>
            </a:srgbClr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80000" marR="19710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marR="197105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Difference between loss function and metric: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marR="197105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Loss is for the algorithm (has to be differentiable and computationally cheep), metric is for humans (easy to understand, relevant to the problem).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marR="197105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You can (and sometimes should!) write your own loss and metric functions!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7" name="Google Shape;907;p7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pic>
        <p:nvPicPr>
          <p:cNvPr id="908" name="Google Shape;908;p71" title="manh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3263" y="2512750"/>
            <a:ext cx="2716726" cy="2162242"/>
          </a:xfrm>
          <a:prstGeom prst="rect">
            <a:avLst/>
          </a:prstGeom>
          <a:noFill/>
          <a:ln cap="flat" cmpd="sng" w="1905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2"/>
          <p:cNvSpPr txBox="1"/>
          <p:nvPr>
            <p:ph idx="4294967295" type="subTitle"/>
          </p:nvPr>
        </p:nvSpPr>
        <p:spPr>
          <a:xfrm>
            <a:off x="199975" y="239975"/>
            <a:ext cx="4275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    Regression metrics: MAE and RMSE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4" name="Google Shape;914;p72"/>
          <p:cNvSpPr txBox="1"/>
          <p:nvPr>
            <p:ph idx="4294967295" type="body"/>
          </p:nvPr>
        </p:nvSpPr>
        <p:spPr>
          <a:xfrm>
            <a:off x="195625" y="794425"/>
            <a:ext cx="42243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Mean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absolute error (MAE):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Root mean square error (RMSE):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15" name="Google Shape;915;p72" title="Screenshot from 2026-02-20 09-02-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53" y="1237250"/>
            <a:ext cx="2858249" cy="112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2" title="Screenshot from 2026-02-20 09-02-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59" y="2927696"/>
            <a:ext cx="3512550" cy="133235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2"/>
          <p:cNvSpPr txBox="1"/>
          <p:nvPr>
            <p:ph idx="4294967295" type="body"/>
          </p:nvPr>
        </p:nvSpPr>
        <p:spPr>
          <a:xfrm>
            <a:off x="4812625" y="239975"/>
            <a:ext cx="4158000" cy="4576500"/>
          </a:xfrm>
          <a:prstGeom prst="rect">
            <a:avLst/>
          </a:prstGeom>
          <a:solidFill>
            <a:srgbClr val="FFFFFF">
              <a:alpha val="90360"/>
            </a:srgbClr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80000" marR="19710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0" lvl="0" marL="180000" marR="197105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Remember: statistics knows how to lie. Single number is not informative. </a:t>
            </a:r>
            <a:br>
              <a:rPr lang="ru" sz="1400">
                <a:latin typeface="Lato"/>
                <a:ea typeface="Lato"/>
                <a:cs typeface="Lato"/>
                <a:sym typeface="Lato"/>
              </a:rPr>
            </a:br>
            <a:r>
              <a:rPr lang="ru" sz="1400">
                <a:latin typeface="Lato"/>
                <a:ea typeface="Lato"/>
                <a:cs typeface="Lato"/>
                <a:sym typeface="Lato"/>
              </a:rPr>
              <a:t>Use residual plots and binned statistics (in 1D, 2D, nD…)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8" name="Google Shape;918;p7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pic>
        <p:nvPicPr>
          <p:cNvPr id="919" name="Google Shape;919;p72" title="fig_binned-combined.png"/>
          <p:cNvPicPr preferRelativeResize="0"/>
          <p:nvPr/>
        </p:nvPicPr>
        <p:blipFill rotWithShape="1">
          <a:blip r:embed="rId5">
            <a:alphaModFix/>
          </a:blip>
          <a:srcRect b="0" l="36182" r="28730" t="46575"/>
          <a:stretch/>
        </p:blipFill>
        <p:spPr>
          <a:xfrm>
            <a:off x="4946301" y="1980200"/>
            <a:ext cx="3861749" cy="23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3"/>
          <p:cNvSpPr/>
          <p:nvPr>
            <p:ph idx="2" type="pic"/>
          </p:nvPr>
        </p:nvSpPr>
        <p:spPr>
          <a:xfrm>
            <a:off x="4683150" y="234075"/>
            <a:ext cx="4275900" cy="4562400"/>
          </a:xfrm>
          <a:prstGeom prst="rect">
            <a:avLst/>
          </a:prstGeom>
        </p:spPr>
      </p:sp>
      <p:sp>
        <p:nvSpPr>
          <p:cNvPr id="925" name="Google Shape;925;p73"/>
          <p:cNvSpPr txBox="1"/>
          <p:nvPr>
            <p:ph idx="1" type="subTitle"/>
          </p:nvPr>
        </p:nvSpPr>
        <p:spPr>
          <a:xfrm>
            <a:off x="199975" y="223264"/>
            <a:ext cx="4275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ru" sz="1460">
                <a:latin typeface="Lato"/>
                <a:ea typeface="Lato"/>
                <a:cs typeface="Lato"/>
                <a:sym typeface="Lato"/>
              </a:rPr>
              <a:t>Final notes: Reproducibility</a:t>
            </a:r>
            <a:endParaRPr sz="146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6" name="Google Shape;926;p73"/>
          <p:cNvSpPr txBox="1"/>
          <p:nvPr>
            <p:ph idx="4294967295" type="body"/>
          </p:nvPr>
        </p:nvSpPr>
        <p:spPr>
          <a:xfrm>
            <a:off x="367625" y="1378625"/>
            <a:ext cx="4108200" cy="31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Fix random seeds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Save train/test splits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Log preprocessing steps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Version datasets (not just in file names :))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Separate config from code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Use git (no, </a:t>
            </a:r>
            <a:r>
              <a:rPr lang="ru" sz="1400">
                <a:latin typeface="Lato"/>
                <a:ea typeface="Lato"/>
                <a:cs typeface="Lato"/>
                <a:sym typeface="Lato"/>
              </a:rPr>
              <a:t>seriously</a:t>
            </a:r>
            <a:r>
              <a:rPr lang="ru" sz="1400">
                <a:latin typeface="Lato"/>
                <a:ea typeface="Lato"/>
                <a:cs typeface="Lato"/>
                <a:sym typeface="Lato"/>
              </a:rPr>
              <a:t>, use git, please)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27" name="Google Shape;927;p73" title="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900" y="315528"/>
            <a:ext cx="3295100" cy="4393442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73"/>
          <p:cNvSpPr txBox="1"/>
          <p:nvPr>
            <p:ph idx="1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4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934" name="Google Shape;934;p74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35" name="Google Shape;935;p74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Final notes: Workflow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6" name="Google Shape;936;p74"/>
          <p:cNvSpPr txBox="1"/>
          <p:nvPr>
            <p:ph idx="3" type="body"/>
          </p:nvPr>
        </p:nvSpPr>
        <p:spPr>
          <a:xfrm>
            <a:off x="195625" y="812398"/>
            <a:ext cx="8758800" cy="12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Data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EDA -&gt; Cleaning -&gt; Feature engineering -&gt; Split -&gt; Train -&gt; Evaluate (-&gt; Rinse -&gt; Repeat)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5"/>
          <p:cNvSpPr/>
          <p:nvPr/>
        </p:nvSpPr>
        <p:spPr>
          <a:xfrm flipH="1">
            <a:off x="1982878" y="2761663"/>
            <a:ext cx="1749300" cy="898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7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943" name="Google Shape;943;p7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44" name="Google Shape;944;p7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Final notes: Workflow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5" name="Google Shape;945;p75"/>
          <p:cNvSpPr txBox="1"/>
          <p:nvPr>
            <p:ph idx="3" type="body"/>
          </p:nvPr>
        </p:nvSpPr>
        <p:spPr>
          <a:xfrm>
            <a:off x="195625" y="812398"/>
            <a:ext cx="8758800" cy="12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Data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EDA -&gt; Cleaning -&gt; Feature engineering -&gt; Split -&gt; Train -&gt; Evaluate (-&gt; Rinse -&gt; Repeat)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6" name="Google Shape;946;p75"/>
          <p:cNvSpPr/>
          <p:nvPr/>
        </p:nvSpPr>
        <p:spPr>
          <a:xfrm>
            <a:off x="605059" y="1174157"/>
            <a:ext cx="3420600" cy="575100"/>
          </a:xfrm>
          <a:prstGeom prst="rect">
            <a:avLst/>
          </a:prstGeom>
          <a:noFill/>
          <a:ln cap="flat" cmpd="sng" w="2857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7" name="Google Shape;947;p75"/>
          <p:cNvCxnSpPr/>
          <p:nvPr/>
        </p:nvCxnSpPr>
        <p:spPr>
          <a:xfrm rot="10800000">
            <a:off x="2270350" y="1904900"/>
            <a:ext cx="42000" cy="826800"/>
          </a:xfrm>
          <a:prstGeom prst="straightConnector1">
            <a:avLst/>
          </a:prstGeom>
          <a:noFill/>
          <a:ln cap="flat" cmpd="sng" w="28575">
            <a:solidFill>
              <a:srgbClr val="741B4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8" name="Google Shape;948;p75"/>
          <p:cNvSpPr txBox="1"/>
          <p:nvPr/>
        </p:nvSpPr>
        <p:spPr>
          <a:xfrm>
            <a:off x="1978200" y="2731700"/>
            <a:ext cx="25938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2"/>
                </a:solidFill>
                <a:latin typeface="Caveat Medium"/>
                <a:ea typeface="Caveat Medium"/>
                <a:cs typeface="Caveat Medium"/>
                <a:sym typeface="Caveat Medium"/>
              </a:rPr>
              <a:t>70% of the time</a:t>
            </a:r>
            <a:endParaRPr sz="2100">
              <a:solidFill>
                <a:schemeClr val="dk2"/>
              </a:solidFill>
              <a:latin typeface="Caveat Medium"/>
              <a:ea typeface="Caveat Medium"/>
              <a:cs typeface="Caveat Medium"/>
              <a:sym typeface="Cave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2"/>
                </a:solidFill>
                <a:latin typeface="Caveat Medium"/>
                <a:ea typeface="Caveat Medium"/>
                <a:cs typeface="Caveat Medium"/>
                <a:sym typeface="Caveat Medium"/>
              </a:rPr>
              <a:t>90% of success</a:t>
            </a:r>
            <a:endParaRPr sz="2100">
              <a:solidFill>
                <a:schemeClr val="dk2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aceTheme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